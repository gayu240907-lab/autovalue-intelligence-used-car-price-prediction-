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71" r:id="rId23"/>
    <p:sldId id="257" r:id="rId7"/>
    <p:sldId id="258" r:id="rId8"/>
    <p:sldId id="259" r:id="rId9"/>
    <p:sldId id="260" r:id="rId10"/>
    <p:sldId id="263" r:id="rId13"/>
    <p:sldId id="264" r:id="rId14"/>
    <p:sldId id="265" r:id="rId15"/>
    <p:sldId id="266" r:id="rId16"/>
    <p:sldId id="267" r:id="rId17"/>
    <p:sldId id="268" r:id="rId20"/>
    <p:sldId id="269" r:id="rId21"/>
    <p:sldId id="270" r:id="rId22"/>
  </p:sldIdLst>
  <p:sldSz cx="18288000" cy="10287000"/>
  <p:notesSz cx="6858000" cy="9144000"/>
  <p:embeddedFontLst>
    <p:embeddedFont>
      <p:font typeface="Calibri (MS) Bold" charset="1" panose="020F0702030404030204"/>
      <p:regular r:id="rId18"/>
    </p:embeddedFont>
    <p:embeddedFont>
      <p:font typeface="Calibri (MS)" charset="1" panose="020F050202020403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font" Target="fonts/font18.fntdata"/><Relationship Id="rId19" Type="http://schemas.openxmlformats.org/officeDocument/2006/relationships/font" Target="fonts/font19.fntdata"/>  <Relationship Id="rId20" Type="http://schemas.openxmlformats.org/officeDocument/2006/relationships/slide" Target="slides/slide12.xml"/>
  <Relationship Id="rId21" Type="http://schemas.openxmlformats.org/officeDocument/2006/relationships/slide" Target="slides/slide13.xml"/>
  <Relationship Id="rId22" Type="http://schemas.openxmlformats.org/officeDocument/2006/relationships/slide" Target="slides/slide14.xml"/>
  <Relationship Id="rId23" Type="http://schemas.openxmlformats.org/officeDocument/2006/relationships/slide" Target="slides/slide15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Lit" Type="http://schemas.openxmlformats.org/officeDocument/2006/relationships/hyperlink" Target="https://docs.google.com/spreadsheets/d/1GYXQNzXRAMzQivvGvPBrxSgTeCe4dR9h/edit?usp=drivesdk&amp;ouid=116715630649918678886&amp;rtpof=true&amp;sd=true" TargetMode="Externa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sp>
        <p:nvSpPr>
          <p:cNvPr name="College Name" id="20"/>
          <p:cNvSpPr txBox="true"/>
          <p:nvPr/>
        </p:nvSpPr>
        <p:spPr>
          <a:xfrm>
            <a:off x="2286000" y="365760"/>
            <a:ext cx="13716000" cy="1554480"/>
          </a:xfrm>
          <a:prstGeom prst="rect">
            <a:avLst/>
          </a:prstGeom>
          <a:noFill/>
        </p:spPr>
        <p:txBody>
          <a:bodyPr anchor="ctr" rtlCol="false" tIns="0" lIns="0" bIns="0" rIns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b="1">
                <a:solidFill>
                  <a:srgbClr val="000000"/>
                </a:solidFill>
                <a:latin typeface="Calibri"/>
                <a:cs typeface="Calibri"/>
              </a:rPr>
              <a:t>K. RAMAKRISHNAN COLLEGE OF TECHNOLOGY</a:t>
            </a:r>
          </a:p>
          <a:p>
            <a:pPr algn="ctr">
              <a:lnSpc>
                <a:spcPct val="100000"/>
              </a:lnSpc>
            </a:pPr>
            <a:r>
              <a:rPr lang="en-US" sz="3200" b="1">
                <a:solidFill>
                  <a:srgbClr val="000000"/>
                </a:solidFill>
                <a:latin typeface="Calibri"/>
                <a:cs typeface="Calibri"/>
              </a:rPr>
              <a:t>(AUTONOMOUS), TIRUCHIRAPPALLI</a:t>
            </a:r>
          </a:p>
        </p:txBody>
      </p:sp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743200"/>
            <a:ext cx="16459200" cy="683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4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Autovalue: Intelligent Used Car Price Prediction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97766" y="4023360"/>
            <a:ext cx="12892468" cy="6478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6"/>
              </a:lnSpc>
            </a:pPr>
            <a:r>
              <a:rPr lang="en-US" sz="38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PRESENTED BY</a:t>
            </a:r>
          </a:p>
          <a:p>
            <a:pPr algn="ctr">
              <a:lnSpc>
                <a:spcPts val="4586"/>
              </a:lnSpc>
            </a:pPr>
            <a:r>
              <a:rPr lang="en-US" sz="38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DHARSHINI M -2503811724322021</a:t>
            </a:r>
          </a:p>
          <a:p>
            <a:pPr algn="ctr">
              <a:lnSpc>
                <a:spcPts val="4586"/>
              </a:lnSpc>
            </a:pPr>
            <a:r>
              <a:rPr lang="en-US" sz="38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DHARUN P-250381172431022</a:t>
            </a:r>
          </a:p>
          <a:p>
            <a:pPr algn="ctr">
              <a:lnSpc>
                <a:spcPts val="4586"/>
              </a:lnSpc>
            </a:pPr>
            <a:r>
              <a:rPr lang="en-US" sz="38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DHARUN S-250381172431023</a:t>
            </a:r>
          </a:p>
          <a:p>
            <a:pPr algn="ctr">
              <a:lnSpc>
                <a:spcPts val="4586"/>
              </a:lnSpc>
            </a:pPr>
            <a:r>
              <a:rPr lang="en-US" sz="3822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GAYATHRI K-2503811724322026</a:t>
            </a:r>
          </a:p>
          <a:p>
            <a:pPr algn="ctr">
              <a:lnSpc>
                <a:spcPts val="4586"/>
              </a:lnSpc>
            </a:pPr>
          </a:p>
          <a:p>
            <a:pPr algn="ctr">
              <a:lnSpc>
                <a:spcPts val="4586"/>
              </a:lnSpc>
            </a:pPr>
          </a:p>
          <a:p>
            <a:pPr algn="ctr">
              <a:lnSpc>
                <a:spcPts val="4586"/>
              </a:lnSpc>
            </a:pPr>
          </a:p>
          <a:p>
            <a:pPr algn="ctr">
              <a:lnSpc>
                <a:spcPts val="4586"/>
              </a:lnSpc>
            </a:pPr>
          </a:p>
          <a:p>
            <a:pPr algn="ctr">
              <a:lnSpc>
                <a:spcPts val="4586"/>
              </a:lnSpc>
            </a:pPr>
          </a:p>
          <a:p>
            <a:pPr algn="ctr">
              <a:lnSpc>
                <a:spcPts val="4586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300933" y="362302"/>
            <a:ext cx="1601448" cy="1587151"/>
            <a:chOff x="0" y="0"/>
            <a:chExt cx="2135264" cy="21162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35251" cy="2116201"/>
            </a:xfrm>
            <a:custGeom>
              <a:avLst/>
              <a:gdLst/>
              <a:ahLst/>
              <a:cxnLst/>
              <a:rect r="r" b="b" t="t" l="l"/>
              <a:pathLst>
                <a:path h="2116201" w="2135251">
                  <a:moveTo>
                    <a:pt x="0" y="0"/>
                  </a:moveTo>
                  <a:lnTo>
                    <a:pt x="2135251" y="0"/>
                  </a:lnTo>
                  <a:lnTo>
                    <a:pt x="2135251" y="2116201"/>
                  </a:lnTo>
                  <a:lnTo>
                    <a:pt x="0" y="2116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15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158" y="355225"/>
            <a:ext cx="1732521" cy="1656264"/>
            <a:chOff x="0" y="0"/>
            <a:chExt cx="2310028" cy="22083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0003" cy="2208403"/>
            </a:xfrm>
            <a:custGeom>
              <a:avLst/>
              <a:gdLst/>
              <a:ahLst/>
              <a:cxnLst/>
              <a:rect r="r" b="b" t="t" l="l"/>
              <a:pathLst>
                <a:path h="2208403" w="2310003">
                  <a:moveTo>
                    <a:pt x="0" y="0"/>
                  </a:moveTo>
                  <a:lnTo>
                    <a:pt x="2310003" y="0"/>
                  </a:lnTo>
                  <a:lnTo>
                    <a:pt x="2310003" y="2208403"/>
                  </a:lnTo>
                  <a:lnTo>
                    <a:pt x="0" y="2208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01" b="2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2286000" y="713232"/>
            <a:ext cx="135331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dirty="0">
                <a:solidFill>
                  <a:srgbClr val="000000"/>
                </a:solidFill>
                <a:latin typeface="Calibri"/>
                <a:cs typeface="Calibri"/>
              </a:rPr>
              <a:t>1. Objective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914400" y="2286000"/>
            <a:ext cx="987552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1F2A6B"/>
                </a:solidFill>
                <a:latin typeface="Calibri"/>
                <a:cs typeface="Calibri"/>
              </a:rPr>
              <a:t>Build a machine-learning model that predicts the resale price of a used car from its attributes.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914400" y="4023360"/>
            <a:ext cx="9875520" cy="5669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1F2A6B"/>
              </a:buClr>
              <a:buFont typeface="Arial"/>
              <a:buChar char="•"/>
            </a:pPr>
            <a:r>
              <a:rPr lang="en-US" sz="2800" b="0" i="0" dirty="0">
                <a:solidFill>
                  <a:srgbClr val="1A1A1A"/>
                </a:solidFill>
                <a:latin typeface="Calibri"/>
                <a:cs typeface="Calibri"/>
              </a:rPr>
              <a:t>Collect and clean a used-car dataset (year, km driven, fuel, transmission, owner, brand).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1F2A6B"/>
              </a:buClr>
              <a:buFont typeface="Arial"/>
              <a:buChar char="•"/>
            </a:pPr>
            <a:r>
              <a:rPr lang="en-US" sz="2800" b="0" i="0" dirty="0">
                <a:solidFill>
                  <a:srgbClr val="1A1A1A"/>
                </a:solidFill>
                <a:latin typeface="Calibri"/>
                <a:cs typeface="Calibri"/>
              </a:rPr>
              <a:t>Engineer features such as car age and encode the categorical variables.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1F2A6B"/>
              </a:buClr>
              <a:buFont typeface="Arial"/>
              <a:buChar char="•"/>
            </a:pPr>
            <a:r>
              <a:rPr lang="en-US" sz="2800" b="0" i="0" dirty="0">
                <a:solidFill>
                  <a:srgbClr val="1A1A1A"/>
                </a:solidFill>
                <a:latin typeface="Calibri"/>
                <a:cs typeface="Calibri"/>
              </a:rPr>
              <a:t>Train and compare Linear Regression, Decision Tree, Random Forest and XGBoost.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1F2A6B"/>
              </a:buClr>
              <a:buFont typeface="Arial"/>
              <a:buChar char="•"/>
            </a:pPr>
            <a:r>
              <a:rPr lang="en-US" sz="2800" b="0" i="0" dirty="0">
                <a:solidFill>
                  <a:srgbClr val="1A1A1A"/>
                </a:solidFill>
                <a:latin typeface="Calibri"/>
                <a:cs typeface="Calibri"/>
              </a:rPr>
              <a:t>Select the best model using MAE, RMSE and R² on unseen test data.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1F2A6B"/>
              </a:buClr>
              <a:buFont typeface="Arial"/>
              <a:buChar char="•"/>
            </a:pPr>
            <a:r>
              <a:rPr lang="en-US" sz="2800" b="0" i="0" dirty="0">
                <a:solidFill>
                  <a:srgbClr val="1A1A1A"/>
                </a:solidFill>
                <a:latin typeface="Calibri"/>
                <a:cs typeface="Calibri"/>
              </a:rPr>
              <a:t>Give buyers and sellers a quick, fair price estimate through a simple app.</a:t>
            </a:r>
          </a:p>
        </p:txBody>
      </p:sp>
      <p:sp>
        <p:nvSpPr>
          <p:cNvPr id="104" name="Flow 104"/>
          <p:cNvSpPr/>
          <p:nvPr/>
        </p:nvSpPr>
        <p:spPr>
          <a:xfrm>
            <a:off x="11612880" y="2468880"/>
            <a:ext cx="5760720" cy="1737360"/>
          </a:xfrm>
          <a:prstGeom prst="flowChartProcess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Calibri"/>
                <a:cs typeface="Calibri"/>
              </a:rPr>
              <a:t>Car attributes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Calibri"/>
                <a:cs typeface="Calibri"/>
              </a:rPr>
              <a:t>year · km driven · fuel · transmission · owner · brand</a:t>
            </a:r>
          </a:p>
        </p:txBody>
      </p:sp>
      <p:cxnSp>
        <p:nvCxnSpPr>
          <p:cNvPr id="105" name="Line 105"/>
          <p:cNvCxnSpPr/>
          <p:nvPr/>
        </p:nvCxnSpPr>
        <p:spPr>
          <a:xfrm>
            <a:off x="14493240" y="4206240"/>
            <a:ext cx="0" cy="91440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sp>
        <p:nvSpPr>
          <p:cNvPr id="106" name="Flow 106"/>
          <p:cNvSpPr/>
          <p:nvPr/>
        </p:nvSpPr>
        <p:spPr>
          <a:xfrm>
            <a:off x="11612880" y="5120640"/>
            <a:ext cx="5760720" cy="1554480"/>
          </a:xfrm>
          <a:prstGeom prst="flowChartProcess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Calibri"/>
                <a:cs typeface="Calibri"/>
              </a:rPr>
              <a:t>ML regression model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Calibri"/>
                <a:cs typeface="Calibri"/>
              </a:rPr>
              <a:t>LR · DT · RF · XGBoost</a:t>
            </a:r>
          </a:p>
        </p:txBody>
      </p:sp>
      <p:cxnSp>
        <p:nvCxnSpPr>
          <p:cNvPr id="107" name="Line 107"/>
          <p:cNvCxnSpPr/>
          <p:nvPr/>
        </p:nvCxnSpPr>
        <p:spPr>
          <a:xfrm>
            <a:off x="14493240" y="6675120"/>
            <a:ext cx="0" cy="91440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sp>
        <p:nvSpPr>
          <p:cNvPr id="108" name="Flow 108"/>
          <p:cNvSpPr/>
          <p:nvPr/>
        </p:nvSpPr>
        <p:spPr>
          <a:xfrm>
            <a:off x="11612880" y="7589520"/>
            <a:ext cx="5760720" cy="1371600"/>
          </a:xfrm>
          <a:prstGeom prst="flowChartTerminator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000000"/>
                </a:solidFill>
                <a:latin typeface="Calibri"/>
                <a:cs typeface="Calibri"/>
              </a:rPr>
              <a:t>Estimated resale price (₹)</a:t>
            </a:r>
          </a:p>
        </p:txBody>
      </p:sp>
      <p:grpSp xmlns:p="http://schemas.openxmlformats.org/presentationml/2006/main" xmlns:a="http://schemas.openxmlformats.org/drawingml/2006/main" xmlns:r="http://schemas.openxmlformats.org/officeDocument/2006/relationships">
        <p:nvGrpSpPr>
          <p:cNvPr name="Group 4" id="4"/>
          <p:cNvGrpSpPr/>
          <p:nvPr/>
        </p:nvGrpSpPr>
        <p:grpSpPr>
          <a:xfrm rot="0">
            <a:off x="300933" y="362302"/>
            <a:ext cx="1601448" cy="1587151"/>
            <a:chOff x="0" y="0"/>
            <a:chExt cx="2135264" cy="21162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35251" cy="2116201"/>
            </a:xfrm>
            <a:custGeom>
              <a:avLst/>
              <a:gdLst/>
              <a:ahLst/>
              <a:cxnLst/>
              <a:rect r="r" b="b" t="t" l="l"/>
              <a:pathLst>
                <a:path h="2116201" w="2135251">
                  <a:moveTo>
                    <a:pt x="0" y="0"/>
                  </a:moveTo>
                  <a:lnTo>
                    <a:pt x="2135251" y="0"/>
                  </a:lnTo>
                  <a:lnTo>
                    <a:pt x="2135251" y="2116201"/>
                  </a:lnTo>
                  <a:lnTo>
                    <a:pt x="0" y="2116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15"/>
              </a:stretch>
            </a:blipFill>
          </p:spPr>
        </p:sp>
      </p:grpSp>
      <p:grpSp xmlns:p="http://schemas.openxmlformats.org/presentationml/2006/main" xmlns:a="http://schemas.openxmlformats.org/drawingml/2006/main" xmlns:r="http://schemas.openxmlformats.org/officeDocument/2006/relationships">
        <p:nvGrpSpPr>
          <p:cNvPr name="Group 6" id="6"/>
          <p:cNvGrpSpPr/>
          <p:nvPr/>
        </p:nvGrpSpPr>
        <p:grpSpPr>
          <a:xfrm rot="0">
            <a:off x="16049158" y="355225"/>
            <a:ext cx="1732521" cy="1656264"/>
            <a:chOff x="0" y="0"/>
            <a:chExt cx="2310028" cy="22083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0003" cy="2208403"/>
            </a:xfrm>
            <a:custGeom>
              <a:avLst/>
              <a:gdLst/>
              <a:ahLst/>
              <a:cxnLst/>
              <a:rect r="r" b="b" t="t" l="l"/>
              <a:pathLst>
                <a:path h="2208403" w="2310003">
                  <a:moveTo>
                    <a:pt x="0" y="0"/>
                  </a:moveTo>
                  <a:lnTo>
                    <a:pt x="2310003" y="0"/>
                  </a:lnTo>
                  <a:lnTo>
                    <a:pt x="2310003" y="2208403"/>
                  </a:lnTo>
                  <a:lnTo>
                    <a:pt x="0" y="2208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01" b="2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2286000" y="713232"/>
            <a:ext cx="135331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dirty="0">
                <a:solidFill>
                  <a:srgbClr val="000000"/>
                </a:solidFill>
                <a:latin typeface="Calibri"/>
                <a:cs typeface="Calibri"/>
              </a:rPr>
              <a:t>2. Problem Identification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914400" y="2286000"/>
            <a:ext cx="9875520" cy="4480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1F2A6B"/>
              </a:buClr>
              <a:buFont typeface="Arial"/>
              <a:buChar char="•"/>
            </a:pPr>
            <a:r>
              <a:rPr lang="en-US" sz="2600" b="0" i="0" dirty="0">
                <a:solidFill>
                  <a:srgbClr val="1A1A1A"/>
                </a:solidFill>
                <a:latin typeface="Calibri"/>
                <a:cs typeface="Calibri"/>
              </a:rPr>
              <a:t>Used-car prices differ widely, even for the same model and year.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1F2A6B"/>
              </a:buClr>
              <a:buFont typeface="Arial"/>
              <a:buChar char="•"/>
            </a:pPr>
            <a:r>
              <a:rPr lang="en-US" sz="2600" b="0" i="0" dirty="0">
                <a:solidFill>
                  <a:srgbClr val="1A1A1A"/>
                </a:solidFill>
                <a:latin typeface="Calibri"/>
                <a:cs typeface="Calibri"/>
              </a:rPr>
              <a:t>Price depends on many interacting factors, so no single rule or formula captures it.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1F2A6B"/>
              </a:buClr>
              <a:buFont typeface="Arial"/>
              <a:buChar char="•"/>
            </a:pPr>
            <a:r>
              <a:rPr lang="en-US" sz="2600" b="0" i="0" dirty="0">
                <a:solidFill>
                  <a:srgbClr val="1A1A1A"/>
                </a:solidFill>
                <a:latin typeface="Calibri"/>
                <a:cs typeface="Calibri"/>
              </a:rPr>
              <a:t>Manual or dealer estimates are subjective, inconsistent and slow: buyers may overpay and sellers may undersell.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1F2A6B"/>
              </a:buClr>
              <a:buFont typeface="Arial"/>
              <a:buChar char="•"/>
            </a:pPr>
            <a:r>
              <a:rPr lang="en-US" sz="2600" b="0" i="0" dirty="0">
                <a:solidFill>
                  <a:srgbClr val="1A1A1A"/>
                </a:solidFill>
                <a:latin typeface="Calibri"/>
                <a:cs typeface="Calibri"/>
              </a:rPr>
              <a:t>Existing studies use different datasets, features and metrics, so their results cannot be compared directly.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1612880" y="2240280"/>
            <a:ext cx="57607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F2A6B"/>
                </a:solidFill>
                <a:latin typeface="Calibri"/>
                <a:cs typeface="Calibri"/>
              </a:rPr>
              <a:t>What drives the price?</a:t>
            </a:r>
          </a:p>
        </p:txBody>
      </p:sp>
      <p:sp>
        <p:nvSpPr>
          <p:cNvPr id="104" name="Chip 104"/>
          <p:cNvSpPr/>
          <p:nvPr/>
        </p:nvSpPr>
        <p:spPr>
          <a:xfrm>
            <a:off x="11612880" y="2971800"/>
            <a:ext cx="1828800" cy="8686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Calibri"/>
                <a:cs typeface="Calibri"/>
              </a:rPr>
              <a:t>Age</a:t>
            </a:r>
          </a:p>
        </p:txBody>
      </p:sp>
      <p:sp>
        <p:nvSpPr>
          <p:cNvPr id="105" name="Chip 105"/>
          <p:cNvSpPr/>
          <p:nvPr/>
        </p:nvSpPr>
        <p:spPr>
          <a:xfrm>
            <a:off x="13578840" y="2971800"/>
            <a:ext cx="1828800" cy="8686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Calibri"/>
                <a:cs typeface="Calibri"/>
              </a:rPr>
              <a:t>Mileage</a:t>
            </a:r>
          </a:p>
        </p:txBody>
      </p:sp>
      <p:sp>
        <p:nvSpPr>
          <p:cNvPr id="106" name="Chip 106"/>
          <p:cNvSpPr/>
          <p:nvPr/>
        </p:nvSpPr>
        <p:spPr>
          <a:xfrm>
            <a:off x="15544800" y="2971800"/>
            <a:ext cx="1828800" cy="8686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Calibri"/>
                <a:cs typeface="Calibri"/>
              </a:rPr>
              <a:t>Brand / model</a:t>
            </a:r>
          </a:p>
        </p:txBody>
      </p:sp>
      <p:sp>
        <p:nvSpPr>
          <p:cNvPr id="107" name="Chip 107"/>
          <p:cNvSpPr/>
          <p:nvPr/>
        </p:nvSpPr>
        <p:spPr>
          <a:xfrm>
            <a:off x="11612880" y="4114800"/>
            <a:ext cx="1828800" cy="8686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Calibri"/>
                <a:cs typeface="Calibri"/>
              </a:rPr>
              <a:t>Fuel type</a:t>
            </a:r>
          </a:p>
        </p:txBody>
      </p:sp>
      <p:sp>
        <p:nvSpPr>
          <p:cNvPr id="108" name="Chip 108"/>
          <p:cNvSpPr/>
          <p:nvPr/>
        </p:nvSpPr>
        <p:spPr>
          <a:xfrm>
            <a:off x="13578840" y="4114800"/>
            <a:ext cx="1828800" cy="8686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Calibri"/>
                <a:cs typeface="Calibri"/>
              </a:rPr>
              <a:t>Transmission</a:t>
            </a:r>
          </a:p>
        </p:txBody>
      </p:sp>
      <p:sp>
        <p:nvSpPr>
          <p:cNvPr id="109" name="Chip 109"/>
          <p:cNvSpPr/>
          <p:nvPr/>
        </p:nvSpPr>
        <p:spPr>
          <a:xfrm>
            <a:off x="15544800" y="4114800"/>
            <a:ext cx="1828800" cy="8686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Calibri"/>
                <a:cs typeface="Calibri"/>
              </a:rPr>
              <a:t>Owners</a:t>
            </a:r>
          </a:p>
        </p:txBody>
      </p:sp>
      <p:sp>
        <p:nvSpPr>
          <p:cNvPr id="110" name="Chip 110"/>
          <p:cNvSpPr/>
          <p:nvPr/>
        </p:nvSpPr>
        <p:spPr>
          <a:xfrm>
            <a:off x="11612880" y="5257800"/>
            <a:ext cx="1828800" cy="8686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Calibri"/>
                <a:cs typeface="Calibri"/>
              </a:rPr>
              <a:t>Condition</a:t>
            </a:r>
          </a:p>
        </p:txBody>
      </p:sp>
      <p:sp>
        <p:nvSpPr>
          <p:cNvPr id="111" name="Chip 111"/>
          <p:cNvSpPr/>
          <p:nvPr/>
        </p:nvSpPr>
        <p:spPr>
          <a:xfrm>
            <a:off x="13578840" y="5257800"/>
            <a:ext cx="1828800" cy="8686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Calibri"/>
                <a:cs typeface="Calibri"/>
              </a:rPr>
              <a:t>Location</a:t>
            </a:r>
          </a:p>
        </p:txBody>
      </p:sp>
      <p:sp>
        <p:nvSpPr>
          <p:cNvPr id="112" name="Chip 112"/>
          <p:cNvSpPr/>
          <p:nvPr/>
        </p:nvSpPr>
        <p:spPr>
          <a:xfrm>
            <a:off x="15544800" y="5257800"/>
            <a:ext cx="1828800" cy="86868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45720" tIns="0" rIns="4572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Calibri"/>
                <a:cs typeface="Calibri"/>
              </a:rPr>
              <a:t>Demand</a:t>
            </a:r>
          </a:p>
        </p:txBody>
      </p:sp>
      <p:sp>
        <p:nvSpPr>
          <p:cNvPr id="113" name="Statement 113"/>
          <p:cNvSpPr/>
          <p:nvPr/>
        </p:nvSpPr>
        <p:spPr>
          <a:xfrm>
            <a:off x="914400" y="7086600"/>
            <a:ext cx="16459200" cy="2377440"/>
          </a:xfrm>
          <a:prstGeom prst="roundRect">
            <a:avLst>
              <a:gd name="adj" fmla="val 8000"/>
            </a:avLst>
          </a:prstGeom>
          <a:solidFill>
            <a:srgbClr val="1F2A6B"/>
          </a:solidFill>
          <a:ln>
            <a:noFill/>
          </a:ln>
        </p:spPr>
        <p:txBody>
          <a:bodyPr wrap="square" lIns="457200" tIns="182880" rIns="457200" bIns="18288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Problem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dirty="0">
                <a:solidFill>
                  <a:srgbClr val="FFFFFF"/>
                </a:solidFill>
                <a:latin typeface="Calibri"/>
                <a:cs typeface="Calibri"/>
              </a:rPr>
              <a:t>Given a used car's attributes, predict its resale price as a supervised regression problem, and find which algorithm does it most accurately when all models are compared on one consistent dataset.</a:t>
            </a:r>
          </a:p>
        </p:txBody>
      </p:sp>
      <p:grpSp xmlns:p="http://schemas.openxmlformats.org/presentationml/2006/main" xmlns:a="http://schemas.openxmlformats.org/drawingml/2006/main" xmlns:r="http://schemas.openxmlformats.org/officeDocument/2006/relationships">
        <p:nvGrpSpPr>
          <p:cNvPr name="Group 4" id="4"/>
          <p:cNvGrpSpPr/>
          <p:nvPr/>
        </p:nvGrpSpPr>
        <p:grpSpPr>
          <a:xfrm rot="0">
            <a:off x="300933" y="362302"/>
            <a:ext cx="1601448" cy="1587151"/>
            <a:chOff x="0" y="0"/>
            <a:chExt cx="2135264" cy="21162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35251" cy="2116201"/>
            </a:xfrm>
            <a:custGeom>
              <a:avLst/>
              <a:gdLst/>
              <a:ahLst/>
              <a:cxnLst/>
              <a:rect r="r" b="b" t="t" l="l"/>
              <a:pathLst>
                <a:path h="2116201" w="2135251">
                  <a:moveTo>
                    <a:pt x="0" y="0"/>
                  </a:moveTo>
                  <a:lnTo>
                    <a:pt x="2135251" y="0"/>
                  </a:lnTo>
                  <a:lnTo>
                    <a:pt x="2135251" y="2116201"/>
                  </a:lnTo>
                  <a:lnTo>
                    <a:pt x="0" y="2116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15"/>
              </a:stretch>
            </a:blipFill>
          </p:spPr>
        </p:sp>
      </p:grpSp>
      <p:grpSp xmlns:p="http://schemas.openxmlformats.org/presentationml/2006/main" xmlns:a="http://schemas.openxmlformats.org/drawingml/2006/main" xmlns:r="http://schemas.openxmlformats.org/officeDocument/2006/relationships">
        <p:nvGrpSpPr>
          <p:cNvPr name="Group 6" id="6"/>
          <p:cNvGrpSpPr/>
          <p:nvPr/>
        </p:nvGrpSpPr>
        <p:grpSpPr>
          <a:xfrm rot="0">
            <a:off x="16049158" y="355225"/>
            <a:ext cx="1732521" cy="1656264"/>
            <a:chOff x="0" y="0"/>
            <a:chExt cx="2310028" cy="22083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0003" cy="2208403"/>
            </a:xfrm>
            <a:custGeom>
              <a:avLst/>
              <a:gdLst/>
              <a:ahLst/>
              <a:cxnLst/>
              <a:rect r="r" b="b" t="t" l="l"/>
              <a:pathLst>
                <a:path h="2208403" w="2310003">
                  <a:moveTo>
                    <a:pt x="0" y="0"/>
                  </a:moveTo>
                  <a:lnTo>
                    <a:pt x="2310003" y="0"/>
                  </a:lnTo>
                  <a:lnTo>
                    <a:pt x="2310003" y="2208403"/>
                  </a:lnTo>
                  <a:lnTo>
                    <a:pt x="0" y="2208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01" b="2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2286000" y="713232"/>
            <a:ext cx="135331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dirty="0">
                <a:solidFill>
                  <a:srgbClr val="000000"/>
                </a:solidFill>
                <a:latin typeface="Calibri"/>
                <a:cs typeface="Calibri"/>
              </a:rPr>
              <a:t>3. Flow Diagram</a:t>
            </a:r>
          </a:p>
        </p:txBody>
      </p:sp>
      <p:sp>
        <p:nvSpPr>
          <p:cNvPr id="201" name="Flow 201"/>
          <p:cNvSpPr/>
          <p:nvPr/>
        </p:nvSpPr>
        <p:spPr>
          <a:xfrm>
            <a:off x="7644000" y="1850000"/>
            <a:ext cx="3000000" cy="600000"/>
          </a:xfrm>
          <a:prstGeom prst="flowChartTerminator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000000"/>
                </a:solidFill>
                <a:latin typeface="Calibri"/>
                <a:cs typeface="Calibri"/>
              </a:rPr>
              <a:t>Start</a:t>
            </a:r>
          </a:p>
        </p:txBody>
      </p:sp>
      <p:sp>
        <p:nvSpPr>
          <p:cNvPr id="202" name="Flow 202"/>
          <p:cNvSpPr/>
          <p:nvPr/>
        </p:nvSpPr>
        <p:spPr>
          <a:xfrm>
            <a:off x="6644000" y="2700000"/>
            <a:ext cx="5000000" cy="800000"/>
          </a:xfrm>
          <a:prstGeom prst="flowChartProcess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400" b="1" i="0" dirty="0">
                <a:solidFill>
                  <a:srgbClr val="000000"/>
                </a:solidFill>
                <a:latin typeface="Calibri"/>
                <a:cs typeface="Calibri"/>
              </a:rPr>
              <a:t>Data Collection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Calibri"/>
                <a:cs typeface="Calibri"/>
              </a:rPr>
              <a:t>(Used Car Dataset)</a:t>
            </a:r>
          </a:p>
        </p:txBody>
      </p:sp>
      <p:sp>
        <p:nvSpPr>
          <p:cNvPr id="203" name="Flow 203"/>
          <p:cNvSpPr/>
          <p:nvPr/>
        </p:nvSpPr>
        <p:spPr>
          <a:xfrm>
            <a:off x="6244000" y="3750000"/>
            <a:ext cx="5800000" cy="1900000"/>
          </a:xfrm>
          <a:prstGeom prst="flowChartProcess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640000" tIns="36576" rIns="640000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400" b="1" i="0" dirty="0">
                <a:solidFill>
                  <a:srgbClr val="000000"/>
                </a:solidFill>
                <a:latin typeface="Calibri"/>
                <a:cs typeface="Calibri"/>
              </a:rPr>
              <a:t>Data Processing</a:t>
            </a:r>
          </a:p>
          <a:p>
            <a:pPr algn="l"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alibri"/>
              <a:buChar char="–"/>
            </a:pPr>
            <a:r>
              <a:rPr lang="en-US" sz="2000" b="0" i="0" dirty="0">
                <a:solidFill>
                  <a:srgbClr val="000000"/>
                </a:solidFill>
                <a:latin typeface="Calibri"/>
                <a:cs typeface="Calibri"/>
              </a:rPr>
              <a:t>Data Cleaning</a:t>
            </a:r>
          </a:p>
          <a:p>
            <a:pPr algn="l"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alibri"/>
              <a:buChar char="–"/>
            </a:pPr>
            <a:r>
              <a:rPr lang="en-US" sz="2000" b="0" i="0" dirty="0">
                <a:solidFill>
                  <a:srgbClr val="000000"/>
                </a:solidFill>
                <a:latin typeface="Calibri"/>
                <a:cs typeface="Calibri"/>
              </a:rPr>
              <a:t>Handling Missing Values</a:t>
            </a:r>
          </a:p>
          <a:p>
            <a:pPr algn="l"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alibri"/>
              <a:buChar char="–"/>
            </a:pPr>
            <a:r>
              <a:rPr lang="en-US" sz="2000" b="0" i="0" dirty="0">
                <a:solidFill>
                  <a:srgbClr val="000000"/>
                </a:solidFill>
                <a:latin typeface="Calibri"/>
                <a:cs typeface="Calibri"/>
              </a:rPr>
              <a:t>Feature Encoding</a:t>
            </a:r>
          </a:p>
          <a:p>
            <a:pPr algn="l" marL="34290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Calibri"/>
              <a:buChar char="–"/>
            </a:pPr>
            <a:r>
              <a:rPr lang="en-US" sz="2000" b="0" i="0" dirty="0">
                <a:solidFill>
                  <a:srgbClr val="000000"/>
                </a:solidFill>
                <a:latin typeface="Calibri"/>
                <a:cs typeface="Calibri"/>
              </a:rPr>
              <a:t>Feature Scaling</a:t>
            </a:r>
          </a:p>
        </p:txBody>
      </p:sp>
      <p:sp>
        <p:nvSpPr>
          <p:cNvPr id="204" name="Flow 204"/>
          <p:cNvSpPr/>
          <p:nvPr/>
        </p:nvSpPr>
        <p:spPr>
          <a:xfrm>
            <a:off x="1344000" y="5900000"/>
            <a:ext cx="4400000" cy="850000"/>
          </a:xfrm>
          <a:prstGeom prst="flowChartProcess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000000"/>
                </a:solidFill>
                <a:latin typeface="Calibri"/>
                <a:cs typeface="Calibri"/>
              </a:rPr>
              <a:t>Linear Regression</a:t>
            </a:r>
          </a:p>
        </p:txBody>
      </p:sp>
      <p:sp>
        <p:nvSpPr>
          <p:cNvPr id="205" name="Flow 205"/>
          <p:cNvSpPr/>
          <p:nvPr/>
        </p:nvSpPr>
        <p:spPr>
          <a:xfrm>
            <a:off x="6944000" y="5900000"/>
            <a:ext cx="4400000" cy="850000"/>
          </a:xfrm>
          <a:prstGeom prst="flowChartProcess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000000"/>
                </a:solidFill>
                <a:latin typeface="Calibri"/>
                <a:cs typeface="Calibri"/>
              </a:rPr>
              <a:t>Decision Tree Regression</a:t>
            </a:r>
          </a:p>
        </p:txBody>
      </p:sp>
      <p:sp>
        <p:nvSpPr>
          <p:cNvPr id="206" name="Flow 206"/>
          <p:cNvSpPr/>
          <p:nvPr/>
        </p:nvSpPr>
        <p:spPr>
          <a:xfrm>
            <a:off x="12544000" y="5900000"/>
            <a:ext cx="4400000" cy="850000"/>
          </a:xfrm>
          <a:prstGeom prst="flowChartProcess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000000"/>
                </a:solidFill>
                <a:latin typeface="Calibri"/>
                <a:cs typeface="Calibri"/>
              </a:rPr>
              <a:t>Random Forest Regression</a:t>
            </a:r>
          </a:p>
        </p:txBody>
      </p:sp>
      <p:sp>
        <p:nvSpPr>
          <p:cNvPr id="207" name="Flow 207"/>
          <p:cNvSpPr/>
          <p:nvPr/>
        </p:nvSpPr>
        <p:spPr>
          <a:xfrm>
            <a:off x="6244000" y="7000000"/>
            <a:ext cx="5800000" cy="1100000"/>
          </a:xfrm>
          <a:prstGeom prst="flowChartProcess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400" b="1" i="0" dirty="0">
                <a:solidFill>
                  <a:srgbClr val="000000"/>
                </a:solidFill>
                <a:latin typeface="Calibri"/>
                <a:cs typeface="Calibri"/>
              </a:rPr>
              <a:t>Selection of Best Model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000000"/>
                </a:solidFill>
                <a:latin typeface="Calibri"/>
                <a:cs typeface="Calibri"/>
              </a:rPr>
              <a:t>(Based on Performance Evaluation)</a:t>
            </a:r>
          </a:p>
        </p:txBody>
      </p:sp>
      <p:sp>
        <p:nvSpPr>
          <p:cNvPr id="208" name="Flow 208"/>
          <p:cNvSpPr/>
          <p:nvPr/>
        </p:nvSpPr>
        <p:spPr>
          <a:xfrm>
            <a:off x="6244000" y="8350000"/>
            <a:ext cx="5800000" cy="750000"/>
          </a:xfrm>
          <a:prstGeom prst="flowChartProcess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000000"/>
                </a:solidFill>
                <a:latin typeface="Calibri"/>
                <a:cs typeface="Calibri"/>
              </a:rPr>
              <a:t>Display the Used Car Predicted Price</a:t>
            </a:r>
          </a:p>
        </p:txBody>
      </p:sp>
      <p:sp>
        <p:nvSpPr>
          <p:cNvPr id="209" name="Flow 209"/>
          <p:cNvSpPr/>
          <p:nvPr/>
        </p:nvSpPr>
        <p:spPr>
          <a:xfrm>
            <a:off x="7644000" y="9350000"/>
            <a:ext cx="3000000" cy="600000"/>
          </a:xfrm>
          <a:prstGeom prst="flowChartTerminator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000000"/>
                </a:solidFill>
                <a:latin typeface="Calibri"/>
                <a:cs typeface="Calibri"/>
              </a:rPr>
              <a:t>Stop</a:t>
            </a:r>
          </a:p>
        </p:txBody>
      </p:sp>
      <p:cxnSp>
        <p:nvCxnSpPr>
          <p:cNvPr id="210" name="Line 210"/>
          <p:cNvCxnSpPr/>
          <p:nvPr/>
        </p:nvCxnSpPr>
        <p:spPr>
          <a:xfrm>
            <a:off x="9144000" y="2450000"/>
            <a:ext cx="0" cy="25000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cxnSp>
        <p:nvCxnSpPr>
          <p:cNvPr id="211" name="Line 211"/>
          <p:cNvCxnSpPr/>
          <p:nvPr/>
        </p:nvCxnSpPr>
        <p:spPr>
          <a:xfrm>
            <a:off x="9144000" y="3500000"/>
            <a:ext cx="0" cy="25000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cxnSp>
        <p:nvCxnSpPr>
          <p:cNvPr id="212" name="Line 212"/>
          <p:cNvCxnSpPr/>
          <p:nvPr/>
        </p:nvCxnSpPr>
        <p:spPr>
          <a:xfrm>
            <a:off x="9144000" y="8100000"/>
            <a:ext cx="0" cy="25000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cxnSp>
        <p:nvCxnSpPr>
          <p:cNvPr id="213" name="Line 213"/>
          <p:cNvCxnSpPr/>
          <p:nvPr/>
        </p:nvCxnSpPr>
        <p:spPr>
          <a:xfrm>
            <a:off x="9144000" y="9100000"/>
            <a:ext cx="0" cy="25000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cxnSp>
        <p:nvCxnSpPr>
          <p:cNvPr id="214" name="Line 214"/>
          <p:cNvCxnSpPr/>
          <p:nvPr/>
        </p:nvCxnSpPr>
        <p:spPr>
          <a:xfrm>
            <a:off x="9144000" y="5650000"/>
            <a:ext cx="0" cy="125000"/>
          </a:xfrm>
          <a:prstGeom prst="line">
            <a:avLst/>
          </a:prstGeom>
          <a:ln w="28575">
            <a:solidFill>
              <a:srgbClr val="000000"/>
            </a:solidFill>
          </a:ln>
        </p:spPr>
      </p:cxnSp>
      <p:cxnSp>
        <p:nvCxnSpPr>
          <p:cNvPr id="215" name="Line 215"/>
          <p:cNvCxnSpPr/>
          <p:nvPr/>
        </p:nvCxnSpPr>
        <p:spPr>
          <a:xfrm>
            <a:off x="3544000" y="5775000"/>
            <a:ext cx="11200000" cy="0"/>
          </a:xfrm>
          <a:prstGeom prst="line">
            <a:avLst/>
          </a:prstGeom>
          <a:ln w="28575">
            <a:solidFill>
              <a:srgbClr val="000000"/>
            </a:solidFill>
          </a:ln>
        </p:spPr>
      </p:cxnSp>
      <p:cxnSp>
        <p:nvCxnSpPr>
          <p:cNvPr id="216" name="Line 216"/>
          <p:cNvCxnSpPr/>
          <p:nvPr/>
        </p:nvCxnSpPr>
        <p:spPr>
          <a:xfrm>
            <a:off x="3544000" y="5775000"/>
            <a:ext cx="0" cy="12500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cxnSp>
        <p:nvCxnSpPr>
          <p:cNvPr id="217" name="Line 217"/>
          <p:cNvCxnSpPr/>
          <p:nvPr/>
        </p:nvCxnSpPr>
        <p:spPr>
          <a:xfrm>
            <a:off x="14744000" y="5775000"/>
            <a:ext cx="0" cy="12500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cxnSp>
        <p:nvCxnSpPr>
          <p:cNvPr id="218" name="Line 218"/>
          <p:cNvCxnSpPr/>
          <p:nvPr/>
        </p:nvCxnSpPr>
        <p:spPr>
          <a:xfrm>
            <a:off x="9144000" y="5775000"/>
            <a:ext cx="0" cy="12500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cxnSp>
        <p:nvCxnSpPr>
          <p:cNvPr id="219" name="Line 219"/>
          <p:cNvCxnSpPr/>
          <p:nvPr/>
        </p:nvCxnSpPr>
        <p:spPr>
          <a:xfrm>
            <a:off x="9144000" y="6750000"/>
            <a:ext cx="0" cy="25000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cxnSp>
        <p:nvCxnSpPr>
          <p:cNvPr id="220" name="Line 220"/>
          <p:cNvCxnSpPr/>
          <p:nvPr/>
        </p:nvCxnSpPr>
        <p:spPr>
          <a:xfrm>
            <a:off x="3544000" y="6750000"/>
            <a:ext cx="0" cy="800000"/>
          </a:xfrm>
          <a:prstGeom prst="line">
            <a:avLst/>
          </a:prstGeom>
          <a:ln w="28575">
            <a:solidFill>
              <a:srgbClr val="000000"/>
            </a:solidFill>
          </a:ln>
        </p:spPr>
      </p:cxnSp>
      <p:cxnSp>
        <p:nvCxnSpPr>
          <p:cNvPr id="221" name="Line 221"/>
          <p:cNvCxnSpPr/>
          <p:nvPr/>
        </p:nvCxnSpPr>
        <p:spPr>
          <a:xfrm>
            <a:off x="3544000" y="7550000"/>
            <a:ext cx="2700000" cy="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cxnSp>
        <p:nvCxnSpPr>
          <p:cNvPr id="222" name="Line 222"/>
          <p:cNvCxnSpPr/>
          <p:nvPr/>
        </p:nvCxnSpPr>
        <p:spPr>
          <a:xfrm>
            <a:off x="14744000" y="6750000"/>
            <a:ext cx="0" cy="800000"/>
          </a:xfrm>
          <a:prstGeom prst="line">
            <a:avLst/>
          </a:prstGeom>
          <a:ln w="28575">
            <a:solidFill>
              <a:srgbClr val="000000"/>
            </a:solidFill>
          </a:ln>
        </p:spPr>
      </p:cxnSp>
      <p:cxnSp>
        <p:nvCxnSpPr>
          <p:cNvPr id="223" name="Line 223"/>
          <p:cNvCxnSpPr/>
          <p:nvPr/>
        </p:nvCxnSpPr>
        <p:spPr>
          <a:xfrm flipH="1">
            <a:off x="12044000" y="7550000"/>
            <a:ext cx="2700000" cy="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grpSp xmlns:p="http://schemas.openxmlformats.org/presentationml/2006/main" xmlns:a="http://schemas.openxmlformats.org/drawingml/2006/main" xmlns:r="http://schemas.openxmlformats.org/officeDocument/2006/relationships">
        <p:nvGrpSpPr>
          <p:cNvPr name="Group 4" id="4"/>
          <p:cNvGrpSpPr/>
          <p:nvPr/>
        </p:nvGrpSpPr>
        <p:grpSpPr>
          <a:xfrm rot="0">
            <a:off x="300933" y="362302"/>
            <a:ext cx="1601448" cy="1587151"/>
            <a:chOff x="0" y="0"/>
            <a:chExt cx="2135264" cy="21162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35251" cy="2116201"/>
            </a:xfrm>
            <a:custGeom>
              <a:avLst/>
              <a:gdLst/>
              <a:ahLst/>
              <a:cxnLst/>
              <a:rect r="r" b="b" t="t" l="l"/>
              <a:pathLst>
                <a:path h="2116201" w="2135251">
                  <a:moveTo>
                    <a:pt x="0" y="0"/>
                  </a:moveTo>
                  <a:lnTo>
                    <a:pt x="2135251" y="0"/>
                  </a:lnTo>
                  <a:lnTo>
                    <a:pt x="2135251" y="2116201"/>
                  </a:lnTo>
                  <a:lnTo>
                    <a:pt x="0" y="2116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15"/>
              </a:stretch>
            </a:blipFill>
          </p:spPr>
        </p:sp>
      </p:grpSp>
      <p:grpSp xmlns:p="http://schemas.openxmlformats.org/presentationml/2006/main" xmlns:a="http://schemas.openxmlformats.org/drawingml/2006/main" xmlns:r="http://schemas.openxmlformats.org/officeDocument/2006/relationships">
        <p:nvGrpSpPr>
          <p:cNvPr name="Group 6" id="6"/>
          <p:cNvGrpSpPr/>
          <p:nvPr/>
        </p:nvGrpSpPr>
        <p:grpSpPr>
          <a:xfrm rot="0">
            <a:off x="16049158" y="355225"/>
            <a:ext cx="1732521" cy="1656264"/>
            <a:chOff x="0" y="0"/>
            <a:chExt cx="2310028" cy="22083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0003" cy="2208403"/>
            </a:xfrm>
            <a:custGeom>
              <a:avLst/>
              <a:gdLst/>
              <a:ahLst/>
              <a:cxnLst/>
              <a:rect r="r" b="b" t="t" l="l"/>
              <a:pathLst>
                <a:path h="2208403" w="2310003">
                  <a:moveTo>
                    <a:pt x="0" y="0"/>
                  </a:moveTo>
                  <a:lnTo>
                    <a:pt x="2310003" y="0"/>
                  </a:lnTo>
                  <a:lnTo>
                    <a:pt x="2310003" y="2208403"/>
                  </a:lnTo>
                  <a:lnTo>
                    <a:pt x="0" y="2208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01" b="2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2286000" y="713232"/>
            <a:ext cx="135331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dirty="0">
                <a:solidFill>
                  <a:srgbClr val="000000"/>
                </a:solidFill>
                <a:latin typeface="Calibri"/>
                <a:cs typeface="Calibri"/>
              </a:rPr>
              <a:t>4. Literature Survey</a:t>
            </a:r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914400" y="2194560"/>
          <a:ext cx="16459200" cy="6217920"/>
        </p:xfrm>
        <a:graphic>
          <a:graphicData uri="http://schemas.openxmlformats.org/drawingml/2006/table">
            <a:tbl>
              <a:tblPr firstRow="1"/>
              <a:tblGrid>
                <a:gridCol w="457200"/>
                <a:gridCol w="3200400"/>
                <a:gridCol w="5029200"/>
                <a:gridCol w="7772400"/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#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Authors (Year)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Algorithms / method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Key finding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1F2A6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F2A6B"/>
                          </a:solidFill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Zhu (2023)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Linear regression, decision tree, neural network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Compared the three models on used-car sales data to find the best price predictor.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F2A6B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Pavlichko &amp; Melnykova (2023)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Decision Tree, Random Forest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Random Forest gave lower RMSE and MAE than the Decision Tree.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F2A6B"/>
                          </a:solidFill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Budiono et al. (2024)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KNN regression on 504 web-scraped records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Reported about 8.3% error and R² of 98.8%.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F2A6B"/>
                          </a:solidFill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Sanke et al. (2024)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Gradient Boosting, Random Forest, CatBoost + chatbot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Over 80% accuracy on web-scraped data, delivered through a chatbot.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F2A6B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Dael et al. (2024)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Random Forest, Neural Network on UK listings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Engine size and registration year were key; Neural Network was most accurate.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F2A6B"/>
                          </a:solidFill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Lin (2024)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Linear, Ridge, Random Forest on CarDekho data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Random Forest outperformed the others; small sample and overfitting noted.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F2A6B"/>
                          </a:solidFill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Chen (2024)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Linear Regression, Decision Tree, KNN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Decision Tree achieved the highest R² on the test set.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F2A6B"/>
                          </a:solidFill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Khotimah et al. (2025)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Artificial Neural Network vs Random Forest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ANN had lower MAE (0.035) than Random Forest (0.047).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F2A6B"/>
                          </a:solidFill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Kasar et al. (2025)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AdaBoost, Bagging, XGBoost + macroeconomic variables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Fuel price and inflation helped; AdaBoost best (R² = 0.91).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F2A6B"/>
                          </a:solidFill>
                          <a:latin typeface="Calibri"/>
                          <a:cs typeface="Calibri"/>
                        </a:rPr>
                        <a:t>10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Fayyaz et al. (2025)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Linear, SVR, RF, boosting, stacking, NN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Feature engineering gave big gains; Stacking best (R² = 0.8899).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F2A6B"/>
                          </a:solidFill>
                          <a:latin typeface="Calibri"/>
                          <a:cs typeface="Calibri"/>
                        </a:rPr>
                        <a:t>11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Li (2025)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Several regressors + SHAP on 7,253 Indian records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XGBoost scored highest (0.87); SHAP explained feature influence.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F2A6B"/>
                          </a:solidFill>
                          <a:latin typeface="Calibri"/>
                          <a:cs typeface="Calibri"/>
                        </a:rPr>
                        <a:t>12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Chaubey et al. (2025)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Linear, Polynomial, DT, RF, SVR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Modelled price from make, year, fuel and mileage; improved on earlier work.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F2A6B"/>
                          </a:solidFill>
                          <a:latin typeface="Calibri"/>
                          <a:cs typeface="Calibri"/>
                        </a:rPr>
                        <a:t>13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Ramadhan et al. (2025)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K-Means + MLR, Polynomial, KNN, Random Forest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Random Forest best: R² = 0.9477, MAPE = 18.25%.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F2A6B"/>
                          </a:solidFill>
                          <a:latin typeface="Calibri"/>
                          <a:cs typeface="Calibri"/>
                        </a:rPr>
                        <a:t>14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Ghaisani &amp; Baita (2025)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KNN regressor on Toyota used cars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KNN (k = 1) reached R² = 0.995 on a 90:10 split.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F2A6B"/>
                          </a:solidFill>
                          <a:latin typeface="Calibri"/>
                          <a:cs typeface="Calibri"/>
                        </a:rPr>
                        <a:t>15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Jamalamadaka (2025)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11 ML models and 3 deep-learning models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Tree ensembles (LightGBM R² = 96.5%) beat neural nets.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F2A6B"/>
                          </a:solidFill>
                          <a:latin typeface="Calibri"/>
                          <a:cs typeface="Calibri"/>
                        </a:rPr>
                        <a:t>16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Shakti Dheerays et al. (2026)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Five ML algorithms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RF and Gradient Boosting best (87% accuracy).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104" name="Link 104"/>
          <p:cNvSpPr txBox="1"/>
          <p:nvPr/>
        </p:nvSpPr>
        <p:spPr>
          <a:xfrm>
            <a:off x="2286000" y="1645920"/>
            <a:ext cx="135331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US" sz="1600" b="0" i="0" u="sng" dirty="0">
                <a:solidFill>
                  <a:srgbClr val="1155CC"/>
                </a:solidFill>
                <a:latin typeface="Calibri"/>
                <a:cs typeface="Calibri"/>
                <a:hlinkClick r:id="rIdLit"/>
              </a:rPr>
              <a:t>https://docs.google.com/spreadsheets/d/1GYXQNzXRAMzQivvGvPBrxSgTeCe4dR9h/edit?usp=drivesdk&amp;ouid=116715630649918678886&amp;rtpof=true&amp;sd=true</a:t>
            </a:r>
          </a:p>
        </p:txBody>
      </p:sp>
      <p:sp>
        <p:nvSpPr>
          <p:cNvPr id="103" name="Gap 103"/>
          <p:cNvSpPr/>
          <p:nvPr/>
        </p:nvSpPr>
        <p:spPr>
          <a:xfrm>
            <a:off x="914400" y="8686800"/>
            <a:ext cx="1645920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F2A6B"/>
            </a:solidFill>
          </a:ln>
        </p:spPr>
        <p:txBody>
          <a:bodyPr wrap="square" lIns="274320" tIns="45720" rIns="274320" bIns="4572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F2A6B"/>
                </a:solidFill>
                <a:latin typeface="Calibri"/>
                <a:cs typeface="Calibri"/>
              </a:rPr>
              <a:t>Research gap: </a:t>
            </a:r>
            <a:r>
              <a:rPr lang="en-US" sz="2000" b="0" i="0" dirty="0">
                <a:solidFill>
                  <a:srgbClr val="1A1A1A"/>
                </a:solidFill>
                <a:latin typeface="Calibri"/>
                <a:cs typeface="Calibri"/>
              </a:rPr>
              <a:t>studies use different datasets, features and metrics, and tree ensembles most often win. This project compares LR, DT, RF and XGBoost on one dataset with the same preprocessing and metrics.</a:t>
            </a:r>
          </a:p>
        </p:txBody>
      </p:sp>
      <p:grpSp xmlns:p="http://schemas.openxmlformats.org/presentationml/2006/main" xmlns:a="http://schemas.openxmlformats.org/drawingml/2006/main" xmlns:r="http://schemas.openxmlformats.org/officeDocument/2006/relationships">
        <p:nvGrpSpPr>
          <p:cNvPr name="Group 4" id="4"/>
          <p:cNvGrpSpPr/>
          <p:nvPr/>
        </p:nvGrpSpPr>
        <p:grpSpPr>
          <a:xfrm rot="0">
            <a:off x="300933" y="362302"/>
            <a:ext cx="1601448" cy="1587151"/>
            <a:chOff x="0" y="0"/>
            <a:chExt cx="2135264" cy="21162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35251" cy="2116201"/>
            </a:xfrm>
            <a:custGeom>
              <a:avLst/>
              <a:gdLst/>
              <a:ahLst/>
              <a:cxnLst/>
              <a:rect r="r" b="b" t="t" l="l"/>
              <a:pathLst>
                <a:path h="2116201" w="2135251">
                  <a:moveTo>
                    <a:pt x="0" y="0"/>
                  </a:moveTo>
                  <a:lnTo>
                    <a:pt x="2135251" y="0"/>
                  </a:lnTo>
                  <a:lnTo>
                    <a:pt x="2135251" y="2116201"/>
                  </a:lnTo>
                  <a:lnTo>
                    <a:pt x="0" y="2116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15"/>
              </a:stretch>
            </a:blipFill>
          </p:spPr>
        </p:sp>
      </p:grpSp>
      <p:grpSp xmlns:p="http://schemas.openxmlformats.org/presentationml/2006/main" xmlns:a="http://schemas.openxmlformats.org/drawingml/2006/main" xmlns:r="http://schemas.openxmlformats.org/officeDocument/2006/relationships">
        <p:nvGrpSpPr>
          <p:cNvPr name="Group 6" id="6"/>
          <p:cNvGrpSpPr/>
          <p:nvPr/>
        </p:nvGrpSpPr>
        <p:grpSpPr>
          <a:xfrm rot="0">
            <a:off x="16049158" y="355225"/>
            <a:ext cx="1732521" cy="1656264"/>
            <a:chOff x="0" y="0"/>
            <a:chExt cx="2310028" cy="22083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0003" cy="2208403"/>
            </a:xfrm>
            <a:custGeom>
              <a:avLst/>
              <a:gdLst/>
              <a:ahLst/>
              <a:cxnLst/>
              <a:rect r="r" b="b" t="t" l="l"/>
              <a:pathLst>
                <a:path h="2208403" w="2310003">
                  <a:moveTo>
                    <a:pt x="0" y="0"/>
                  </a:moveTo>
                  <a:lnTo>
                    <a:pt x="2310003" y="0"/>
                  </a:lnTo>
                  <a:lnTo>
                    <a:pt x="2310003" y="2208403"/>
                  </a:lnTo>
                  <a:lnTo>
                    <a:pt x="0" y="2208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01" b="2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2286000" y="713232"/>
            <a:ext cx="135331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dirty="0">
                <a:solidFill>
                  <a:srgbClr val="000000"/>
                </a:solidFill>
                <a:latin typeface="Calibri"/>
                <a:cs typeface="Calibri"/>
              </a:rPr>
              <a:t>5. Research Methodology – Algorithms (1/2)</a:t>
            </a:r>
          </a:p>
        </p:txBody>
      </p:sp>
      <p:sp>
        <p:nvSpPr>
          <p:cNvPr id="102" name="Panel 102"/>
          <p:cNvSpPr/>
          <p:nvPr/>
        </p:nvSpPr>
        <p:spPr>
          <a:xfrm>
            <a:off x="914400" y="2194560"/>
            <a:ext cx="8046720" cy="7498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103" name="TextBox 103"/>
          <p:cNvSpPr txBox="1"/>
          <p:nvPr/>
        </p:nvSpPr>
        <p:spPr>
          <a:xfrm>
            <a:off x="1234440" y="2377440"/>
            <a:ext cx="74066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1F2A6B"/>
                </a:solidFill>
                <a:latin typeface="Calibri"/>
                <a:cs typeface="Calibri"/>
              </a:rPr>
              <a:t>Linear Regression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234440" y="3063240"/>
            <a:ext cx="7406640" cy="3291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2400" b="1" i="0" dirty="0">
                <a:solidFill>
                  <a:srgbClr val="1F2A6B"/>
                </a:solidFill>
                <a:latin typeface="Calibri"/>
                <a:cs typeface="Calibri"/>
              </a:rPr>
              <a:t>Idea. </a:t>
            </a:r>
            <a:r>
              <a:rPr lang="en-US" sz="2400" b="0" i="0" dirty="0">
                <a:solidFill>
                  <a:srgbClr val="1A1A1A"/>
                </a:solidFill>
                <a:latin typeface="Calibri"/>
                <a:cs typeface="Calibri"/>
              </a:rPr>
              <a:t>fits a straight-line (hyperplane) relationship between the features and the price by minimising squared error.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2400" b="1" i="0" dirty="0">
                <a:solidFill>
                  <a:srgbClr val="1F2A6B"/>
                </a:solidFill>
                <a:latin typeface="Calibri"/>
                <a:cs typeface="Calibri"/>
              </a:rPr>
              <a:t>Formula. </a:t>
            </a:r>
            <a:r>
              <a:rPr lang="en-US" sz="2400" b="0" i="1" dirty="0">
                <a:solidFill>
                  <a:srgbClr val="1A1A1A"/>
                </a:solidFill>
                <a:latin typeface="Calibri"/>
                <a:cs typeface="Calibri"/>
              </a:rPr>
              <a:t>ŷ = β₀ + β₁·Age + β₂·Km + β₃·Fuel + … ; minimise Σ(yᵢ − ŷᵢ)²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F2A6B"/>
                </a:solidFill>
                <a:latin typeface="Calibri"/>
                <a:cs typeface="Calibri"/>
              </a:rPr>
              <a:t>Role here. </a:t>
            </a:r>
            <a:r>
              <a:rPr lang="en-US" sz="2400" b="0" i="0" dirty="0">
                <a:solidFill>
                  <a:srgbClr val="1A1A1A"/>
                </a:solidFill>
                <a:latin typeface="Calibri"/>
                <a:cs typeface="Calibri"/>
              </a:rPr>
              <a:t>simple baseline; coefficients show each feature’s effect on price.</a:t>
            </a:r>
          </a:p>
        </p:txBody>
      </p:sp>
      <p:cxnSp>
        <p:nvCxnSpPr>
          <p:cNvPr id="105" name="Line 105"/>
          <p:cNvCxnSpPr/>
          <p:nvPr/>
        </p:nvCxnSpPr>
        <p:spPr>
          <a:xfrm>
            <a:off x="1828800" y="6949440"/>
            <a:ext cx="0" cy="2468880"/>
          </a:xfrm>
          <a:prstGeom prst="line">
            <a:avLst/>
          </a:prstGeom>
          <a:ln w="22225">
            <a:solidFill>
              <a:srgbClr val="555555"/>
            </a:solidFill>
            <a:tailEnd type="triangle" w="med" len="med"/>
          </a:ln>
        </p:spPr>
      </p:cxnSp>
      <p:cxnSp>
        <p:nvCxnSpPr>
          <p:cNvPr id="106" name="Line 106"/>
          <p:cNvCxnSpPr/>
          <p:nvPr/>
        </p:nvCxnSpPr>
        <p:spPr>
          <a:xfrm>
            <a:off x="1828800" y="9418320"/>
            <a:ext cx="6217920" cy="0"/>
          </a:xfrm>
          <a:prstGeom prst="line">
            <a:avLst/>
          </a:prstGeom>
          <a:ln w="22225">
            <a:solidFill>
              <a:srgbClr val="555555"/>
            </a:solidFill>
            <a:tailEnd type="triangle" w="med" len="med"/>
          </a:ln>
        </p:spPr>
      </p:cxnSp>
      <p:sp>
        <p:nvSpPr>
          <p:cNvPr id="107" name="Point 107"/>
          <p:cNvSpPr/>
          <p:nvPr/>
        </p:nvSpPr>
        <p:spPr>
          <a:xfrm>
            <a:off x="2295144" y="7095744"/>
            <a:ext cx="164592" cy="164592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108" name="Point 108"/>
          <p:cNvSpPr/>
          <p:nvPr/>
        </p:nvSpPr>
        <p:spPr>
          <a:xfrm>
            <a:off x="2752344" y="7415784"/>
            <a:ext cx="164592" cy="164592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109" name="Point 109"/>
          <p:cNvSpPr/>
          <p:nvPr/>
        </p:nvSpPr>
        <p:spPr>
          <a:xfrm>
            <a:off x="3209544" y="7232904"/>
            <a:ext cx="164592" cy="164592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110" name="Point 110"/>
          <p:cNvSpPr/>
          <p:nvPr/>
        </p:nvSpPr>
        <p:spPr>
          <a:xfrm>
            <a:off x="3666744" y="7690104"/>
            <a:ext cx="164592" cy="164592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111" name="Point 111"/>
          <p:cNvSpPr/>
          <p:nvPr/>
        </p:nvSpPr>
        <p:spPr>
          <a:xfrm>
            <a:off x="4123944" y="7598664"/>
            <a:ext cx="164592" cy="164592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112" name="Point 112"/>
          <p:cNvSpPr/>
          <p:nvPr/>
        </p:nvSpPr>
        <p:spPr>
          <a:xfrm>
            <a:off x="4672584" y="8010144"/>
            <a:ext cx="164592" cy="164592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113" name="Point 113"/>
          <p:cNvSpPr/>
          <p:nvPr/>
        </p:nvSpPr>
        <p:spPr>
          <a:xfrm>
            <a:off x="5129784" y="7872984"/>
            <a:ext cx="164592" cy="164592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114" name="Point 114"/>
          <p:cNvSpPr/>
          <p:nvPr/>
        </p:nvSpPr>
        <p:spPr>
          <a:xfrm>
            <a:off x="5678424" y="8330184"/>
            <a:ext cx="164592" cy="164592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115" name="Point 115"/>
          <p:cNvSpPr/>
          <p:nvPr/>
        </p:nvSpPr>
        <p:spPr>
          <a:xfrm>
            <a:off x="6227064" y="8193024"/>
            <a:ext cx="164592" cy="164592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116" name="Point 116"/>
          <p:cNvSpPr/>
          <p:nvPr/>
        </p:nvSpPr>
        <p:spPr>
          <a:xfrm>
            <a:off x="6775704" y="8604504"/>
            <a:ext cx="164592" cy="164592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117" name="Point 117"/>
          <p:cNvSpPr/>
          <p:nvPr/>
        </p:nvSpPr>
        <p:spPr>
          <a:xfrm>
            <a:off x="7324344" y="8513064"/>
            <a:ext cx="164592" cy="164592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cxnSp>
        <p:nvCxnSpPr>
          <p:cNvPr id="118" name="Line 118"/>
          <p:cNvCxnSpPr/>
          <p:nvPr/>
        </p:nvCxnSpPr>
        <p:spPr>
          <a:xfrm>
            <a:off x="2103120" y="7132320"/>
            <a:ext cx="5577840" cy="1783080"/>
          </a:xfrm>
          <a:prstGeom prst="line">
            <a:avLst/>
          </a:prstGeom>
          <a:ln w="31750">
            <a:solidFill>
              <a:srgbClr val="9B1C2E"/>
            </a:solidFill>
          </a:ln>
        </p:spPr>
      </p:cxnSp>
      <p:sp>
        <p:nvSpPr>
          <p:cNvPr id="119" name="TextBox 119"/>
          <p:cNvSpPr txBox="1"/>
          <p:nvPr/>
        </p:nvSpPr>
        <p:spPr>
          <a:xfrm>
            <a:off x="6035040" y="896112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555555"/>
                </a:solidFill>
                <a:latin typeface="Calibri"/>
                <a:cs typeface="Calibri"/>
              </a:rPr>
              <a:t>Age →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1965960" y="6492240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555555"/>
                </a:solidFill>
                <a:latin typeface="Calibri"/>
                <a:cs typeface="Calibri"/>
              </a:rPr>
              <a:t>Price</a:t>
            </a:r>
          </a:p>
        </p:txBody>
      </p:sp>
      <p:sp>
        <p:nvSpPr>
          <p:cNvPr id="121" name="Panel 121"/>
          <p:cNvSpPr/>
          <p:nvPr/>
        </p:nvSpPr>
        <p:spPr>
          <a:xfrm>
            <a:off x="9326880" y="2194560"/>
            <a:ext cx="8046720" cy="7498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122" name="TextBox 122"/>
          <p:cNvSpPr txBox="1"/>
          <p:nvPr/>
        </p:nvSpPr>
        <p:spPr>
          <a:xfrm>
            <a:off x="9646920" y="2377440"/>
            <a:ext cx="74066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1F2A6B"/>
                </a:solidFill>
                <a:latin typeface="Calibri"/>
                <a:cs typeface="Calibri"/>
              </a:rPr>
              <a:t>Decision Tree Regression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9646920" y="3063240"/>
            <a:ext cx="7406640" cy="3291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2400" b="1" i="0" dirty="0">
                <a:solidFill>
                  <a:srgbClr val="1F2A6B"/>
                </a:solidFill>
                <a:latin typeface="Calibri"/>
                <a:cs typeface="Calibri"/>
              </a:rPr>
              <a:t>Idea. </a:t>
            </a:r>
            <a:r>
              <a:rPr lang="en-US" sz="2400" b="0" i="0" dirty="0">
                <a:solidFill>
                  <a:srgbClr val="1A1A1A"/>
                </a:solidFill>
                <a:latin typeface="Calibri"/>
                <a:cs typeface="Calibri"/>
              </a:rPr>
              <a:t>splits the data again and again on feature thresholds so each leaf holds similar cars; a leaf predicts the mean price of its cars.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2400" b="1" i="0" dirty="0">
                <a:solidFill>
                  <a:srgbClr val="1F2A6B"/>
                </a:solidFill>
                <a:latin typeface="Calibri"/>
                <a:cs typeface="Calibri"/>
              </a:rPr>
              <a:t>Split rule. </a:t>
            </a:r>
            <a:r>
              <a:rPr lang="en-US" sz="2400" b="0" i="1" dirty="0">
                <a:solidFill>
                  <a:srgbClr val="1A1A1A"/>
                </a:solidFill>
                <a:latin typeface="Calibri"/>
                <a:cs typeface="Calibri"/>
              </a:rPr>
              <a:t>choose the split that minimises the MSE of the child nodes.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F2A6B"/>
                </a:solidFill>
                <a:latin typeface="Calibri"/>
                <a:cs typeface="Calibri"/>
              </a:rPr>
              <a:t>Role here. </a:t>
            </a:r>
            <a:r>
              <a:rPr lang="en-US" sz="2400" b="0" i="0" dirty="0">
                <a:solidFill>
                  <a:srgbClr val="1A1A1A"/>
                </a:solidFill>
                <a:latin typeface="Calibri"/>
                <a:cs typeface="Calibri"/>
              </a:rPr>
              <a:t>captures non-linear effects and interactions; limit max_depth to avoid overfitting.</a:t>
            </a:r>
          </a:p>
        </p:txBody>
      </p:sp>
      <p:sp>
        <p:nvSpPr>
          <p:cNvPr id="124" name="Flow 124"/>
          <p:cNvSpPr/>
          <p:nvPr/>
        </p:nvSpPr>
        <p:spPr>
          <a:xfrm>
            <a:off x="12115800" y="6537960"/>
            <a:ext cx="2468880" cy="640080"/>
          </a:xfrm>
          <a:prstGeom prst="flowChartProcess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000000"/>
                </a:solidFill>
                <a:latin typeface="Calibri"/>
                <a:cs typeface="Calibri"/>
              </a:rPr>
              <a:t>Age ≤ 5 yrs?</a:t>
            </a:r>
          </a:p>
        </p:txBody>
      </p:sp>
      <p:sp>
        <p:nvSpPr>
          <p:cNvPr id="125" name="Flow 125"/>
          <p:cNvSpPr/>
          <p:nvPr/>
        </p:nvSpPr>
        <p:spPr>
          <a:xfrm>
            <a:off x="10287000" y="7726680"/>
            <a:ext cx="2286000" cy="640080"/>
          </a:xfrm>
          <a:prstGeom prst="flowChartProcess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000000"/>
                </a:solidFill>
                <a:latin typeface="Calibri"/>
                <a:cs typeface="Calibri"/>
              </a:rPr>
              <a:t>Km ≤ 40k?</a:t>
            </a:r>
          </a:p>
        </p:txBody>
      </p:sp>
      <p:sp>
        <p:nvSpPr>
          <p:cNvPr id="126" name="Flow 126"/>
          <p:cNvSpPr/>
          <p:nvPr/>
        </p:nvSpPr>
        <p:spPr>
          <a:xfrm>
            <a:off x="14264640" y="7726680"/>
            <a:ext cx="2286000" cy="640080"/>
          </a:xfrm>
          <a:prstGeom prst="flowChartProcess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000000"/>
                </a:solidFill>
                <a:latin typeface="Calibri"/>
                <a:cs typeface="Calibri"/>
              </a:rPr>
              <a:t>Diesel?</a:t>
            </a:r>
          </a:p>
        </p:txBody>
      </p:sp>
      <p:sp>
        <p:nvSpPr>
          <p:cNvPr id="127" name="Flow 127"/>
          <p:cNvSpPr/>
          <p:nvPr/>
        </p:nvSpPr>
        <p:spPr>
          <a:xfrm>
            <a:off x="9646920" y="8915400"/>
            <a:ext cx="1691640" cy="640080"/>
          </a:xfrm>
          <a:prstGeom prst="roundRect">
            <a:avLst/>
          </a:prstGeom>
          <a:solidFill>
            <a:srgbClr val="F6F6F6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000000"/>
                </a:solidFill>
                <a:latin typeface="Calibri"/>
                <a:cs typeface="Calibri"/>
              </a:rPr>
              <a:t>High</a:t>
            </a:r>
          </a:p>
        </p:txBody>
      </p:sp>
      <p:sp>
        <p:nvSpPr>
          <p:cNvPr id="128" name="Flow 128"/>
          <p:cNvSpPr/>
          <p:nvPr/>
        </p:nvSpPr>
        <p:spPr>
          <a:xfrm>
            <a:off x="11475720" y="8915400"/>
            <a:ext cx="1691640" cy="640080"/>
          </a:xfrm>
          <a:prstGeom prst="roundRect">
            <a:avLst/>
          </a:prstGeom>
          <a:solidFill>
            <a:srgbClr val="F6F6F6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000000"/>
                </a:solidFill>
                <a:latin typeface="Calibri"/>
                <a:cs typeface="Calibri"/>
              </a:rPr>
              <a:t>Medium</a:t>
            </a:r>
          </a:p>
        </p:txBody>
      </p:sp>
      <p:sp>
        <p:nvSpPr>
          <p:cNvPr id="129" name="Flow 129"/>
          <p:cNvSpPr/>
          <p:nvPr/>
        </p:nvSpPr>
        <p:spPr>
          <a:xfrm>
            <a:off x="13395960" y="8915400"/>
            <a:ext cx="1691640" cy="640080"/>
          </a:xfrm>
          <a:prstGeom prst="roundRect">
            <a:avLst/>
          </a:prstGeom>
          <a:solidFill>
            <a:srgbClr val="F6F6F6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000000"/>
                </a:solidFill>
                <a:latin typeface="Calibri"/>
                <a:cs typeface="Calibri"/>
              </a:rPr>
              <a:t>Medium</a:t>
            </a:r>
          </a:p>
        </p:txBody>
      </p:sp>
      <p:sp>
        <p:nvSpPr>
          <p:cNvPr id="130" name="Flow 130"/>
          <p:cNvSpPr/>
          <p:nvPr/>
        </p:nvSpPr>
        <p:spPr>
          <a:xfrm>
            <a:off x="15316200" y="8915400"/>
            <a:ext cx="1691640" cy="640080"/>
          </a:xfrm>
          <a:prstGeom prst="roundRect">
            <a:avLst/>
          </a:prstGeom>
          <a:solidFill>
            <a:srgbClr val="F6F6F6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000000"/>
                </a:solidFill>
                <a:latin typeface="Calibri"/>
                <a:cs typeface="Calibri"/>
              </a:rPr>
              <a:t>Low</a:t>
            </a:r>
          </a:p>
        </p:txBody>
      </p:sp>
      <p:cxnSp>
        <p:nvCxnSpPr>
          <p:cNvPr id="131" name="Line 131"/>
          <p:cNvCxnSpPr/>
          <p:nvPr/>
        </p:nvCxnSpPr>
        <p:spPr>
          <a:xfrm flipH="1">
            <a:off x="11430000" y="7178040"/>
            <a:ext cx="1371600" cy="54864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cxnSp>
        <p:nvCxnSpPr>
          <p:cNvPr id="132" name="Line 132"/>
          <p:cNvCxnSpPr/>
          <p:nvPr/>
        </p:nvCxnSpPr>
        <p:spPr>
          <a:xfrm>
            <a:off x="13898880" y="7178040"/>
            <a:ext cx="1508760" cy="54864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cxnSp>
        <p:nvCxnSpPr>
          <p:cNvPr id="133" name="Line 133"/>
          <p:cNvCxnSpPr/>
          <p:nvPr/>
        </p:nvCxnSpPr>
        <p:spPr>
          <a:xfrm flipH="1">
            <a:off x="10492740" y="8366760"/>
            <a:ext cx="937260" cy="54864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cxnSp>
        <p:nvCxnSpPr>
          <p:cNvPr id="134" name="Line 134"/>
          <p:cNvCxnSpPr/>
          <p:nvPr/>
        </p:nvCxnSpPr>
        <p:spPr>
          <a:xfrm>
            <a:off x="11430000" y="8366760"/>
            <a:ext cx="891540" cy="54864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cxnSp>
        <p:nvCxnSpPr>
          <p:cNvPr id="135" name="Line 135"/>
          <p:cNvCxnSpPr/>
          <p:nvPr/>
        </p:nvCxnSpPr>
        <p:spPr>
          <a:xfrm flipH="1">
            <a:off x="14241780" y="8366760"/>
            <a:ext cx="1165860" cy="54864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cxnSp>
        <p:nvCxnSpPr>
          <p:cNvPr id="136" name="Line 136"/>
          <p:cNvCxnSpPr/>
          <p:nvPr/>
        </p:nvCxnSpPr>
        <p:spPr>
          <a:xfrm>
            <a:off x="15407640" y="8366760"/>
            <a:ext cx="754380" cy="54864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grpSp xmlns:p="http://schemas.openxmlformats.org/presentationml/2006/main" xmlns:a="http://schemas.openxmlformats.org/drawingml/2006/main" xmlns:r="http://schemas.openxmlformats.org/officeDocument/2006/relationships">
        <p:nvGrpSpPr>
          <p:cNvPr name="Group 4" id="4"/>
          <p:cNvGrpSpPr/>
          <p:nvPr/>
        </p:nvGrpSpPr>
        <p:grpSpPr>
          <a:xfrm rot="0">
            <a:off x="300933" y="362302"/>
            <a:ext cx="1601448" cy="1587151"/>
            <a:chOff x="0" y="0"/>
            <a:chExt cx="2135264" cy="21162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35251" cy="2116201"/>
            </a:xfrm>
            <a:custGeom>
              <a:avLst/>
              <a:gdLst/>
              <a:ahLst/>
              <a:cxnLst/>
              <a:rect r="r" b="b" t="t" l="l"/>
              <a:pathLst>
                <a:path h="2116201" w="2135251">
                  <a:moveTo>
                    <a:pt x="0" y="0"/>
                  </a:moveTo>
                  <a:lnTo>
                    <a:pt x="2135251" y="0"/>
                  </a:lnTo>
                  <a:lnTo>
                    <a:pt x="2135251" y="2116201"/>
                  </a:lnTo>
                  <a:lnTo>
                    <a:pt x="0" y="2116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15"/>
              </a:stretch>
            </a:blipFill>
          </p:spPr>
        </p:sp>
      </p:grpSp>
      <p:grpSp xmlns:p="http://schemas.openxmlformats.org/presentationml/2006/main" xmlns:a="http://schemas.openxmlformats.org/drawingml/2006/main" xmlns:r="http://schemas.openxmlformats.org/officeDocument/2006/relationships">
        <p:nvGrpSpPr>
          <p:cNvPr name="Group 6" id="6"/>
          <p:cNvGrpSpPr/>
          <p:nvPr/>
        </p:nvGrpSpPr>
        <p:grpSpPr>
          <a:xfrm rot="0">
            <a:off x="16049158" y="355225"/>
            <a:ext cx="1732521" cy="1656264"/>
            <a:chOff x="0" y="0"/>
            <a:chExt cx="2310028" cy="22083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0003" cy="2208403"/>
            </a:xfrm>
            <a:custGeom>
              <a:avLst/>
              <a:gdLst/>
              <a:ahLst/>
              <a:cxnLst/>
              <a:rect r="r" b="b" t="t" l="l"/>
              <a:pathLst>
                <a:path h="2208403" w="2310003">
                  <a:moveTo>
                    <a:pt x="0" y="0"/>
                  </a:moveTo>
                  <a:lnTo>
                    <a:pt x="2310003" y="0"/>
                  </a:lnTo>
                  <a:lnTo>
                    <a:pt x="2310003" y="2208403"/>
                  </a:lnTo>
                  <a:lnTo>
                    <a:pt x="0" y="2208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01" b="2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2286000" y="713232"/>
            <a:ext cx="135331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dirty="0">
                <a:solidFill>
                  <a:srgbClr val="000000"/>
                </a:solidFill>
                <a:latin typeface="Calibri"/>
                <a:cs typeface="Calibri"/>
              </a:rPr>
              <a:t>5. Research Methodology – Algorithms (2/2)</a:t>
            </a:r>
          </a:p>
        </p:txBody>
      </p:sp>
      <p:sp>
        <p:nvSpPr>
          <p:cNvPr id="102" name="Panel 102"/>
          <p:cNvSpPr/>
          <p:nvPr/>
        </p:nvSpPr>
        <p:spPr>
          <a:xfrm>
            <a:off x="914400" y="2194560"/>
            <a:ext cx="8046720" cy="7498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103" name="TextBox 103"/>
          <p:cNvSpPr txBox="1"/>
          <p:nvPr/>
        </p:nvSpPr>
        <p:spPr>
          <a:xfrm>
            <a:off x="1234440" y="2377440"/>
            <a:ext cx="74066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1F2A6B"/>
                </a:solidFill>
                <a:latin typeface="Calibri"/>
                <a:cs typeface="Calibri"/>
              </a:rPr>
              <a:t>Random Forest Regression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234440" y="3063240"/>
            <a:ext cx="7406640" cy="3291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2400" b="1" i="0" dirty="0">
                <a:solidFill>
                  <a:srgbClr val="1F2A6B"/>
                </a:solidFill>
                <a:latin typeface="Calibri"/>
                <a:cs typeface="Calibri"/>
              </a:rPr>
              <a:t>Idea. </a:t>
            </a:r>
            <a:r>
              <a:rPr lang="en-US" sz="2400" b="0" i="0" dirty="0">
                <a:solidFill>
                  <a:srgbClr val="1A1A1A"/>
                </a:solidFill>
                <a:latin typeface="Calibri"/>
                <a:cs typeface="Calibri"/>
              </a:rPr>
              <a:t>bagging: many trees are trained on random samples of rows and features; the forest averages their predictions.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2400" b="1" i="0" dirty="0">
                <a:solidFill>
                  <a:srgbClr val="1F2A6B"/>
                </a:solidFill>
                <a:latin typeface="Calibri"/>
                <a:cs typeface="Calibri"/>
              </a:rPr>
              <a:t>Formula. </a:t>
            </a:r>
            <a:r>
              <a:rPr lang="en-US" sz="2400" b="0" i="1" dirty="0">
                <a:solidFill>
                  <a:srgbClr val="1A1A1A"/>
                </a:solidFill>
                <a:latin typeface="Calibri"/>
                <a:cs typeface="Calibri"/>
              </a:rPr>
              <a:t>ŷ = (1/T) · Σ hₜ(x), the mean of T tree predictions.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F2A6B"/>
                </a:solidFill>
                <a:latin typeface="Calibri"/>
                <a:cs typeface="Calibri"/>
              </a:rPr>
              <a:t>Role here. </a:t>
            </a:r>
            <a:r>
              <a:rPr lang="en-US" sz="2400" b="0" i="0" dirty="0">
                <a:solidFill>
                  <a:srgbClr val="1A1A1A"/>
                </a:solidFill>
                <a:latin typeface="Calibri"/>
                <a:cs typeface="Calibri"/>
              </a:rPr>
              <a:t>cuts the variance of a single tree; robust, and gives feature importance.</a:t>
            </a:r>
          </a:p>
        </p:txBody>
      </p:sp>
      <p:sp>
        <p:nvSpPr>
          <p:cNvPr id="105" name="Flow 105"/>
          <p:cNvSpPr/>
          <p:nvPr/>
        </p:nvSpPr>
        <p:spPr>
          <a:xfrm>
            <a:off x="1371600" y="6583680"/>
            <a:ext cx="1828800" cy="731520"/>
          </a:xfrm>
          <a:prstGeom prst="flowChartProcess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000000"/>
                </a:solidFill>
                <a:latin typeface="Calibri"/>
                <a:cs typeface="Calibri"/>
              </a:rPr>
              <a:t>Tree 1</a:t>
            </a:r>
          </a:p>
        </p:txBody>
      </p:sp>
      <p:cxnSp>
        <p:nvCxnSpPr>
          <p:cNvPr id="106" name="Line 106"/>
          <p:cNvCxnSpPr/>
          <p:nvPr/>
        </p:nvCxnSpPr>
        <p:spPr>
          <a:xfrm>
            <a:off x="3200400" y="6949440"/>
            <a:ext cx="1645920" cy="100584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sp>
        <p:nvSpPr>
          <p:cNvPr id="107" name="Flow 107"/>
          <p:cNvSpPr/>
          <p:nvPr/>
        </p:nvSpPr>
        <p:spPr>
          <a:xfrm>
            <a:off x="1371600" y="7589520"/>
            <a:ext cx="1828800" cy="731520"/>
          </a:xfrm>
          <a:prstGeom prst="flowChartProcess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000000"/>
                </a:solidFill>
                <a:latin typeface="Calibri"/>
                <a:cs typeface="Calibri"/>
              </a:rPr>
              <a:t>Tree 2</a:t>
            </a:r>
          </a:p>
        </p:txBody>
      </p:sp>
      <p:cxnSp>
        <p:nvCxnSpPr>
          <p:cNvPr id="108" name="Line 108"/>
          <p:cNvCxnSpPr/>
          <p:nvPr/>
        </p:nvCxnSpPr>
        <p:spPr>
          <a:xfrm flipV="1">
            <a:off x="3200400" y="7955280"/>
            <a:ext cx="1645920" cy="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sp>
        <p:nvSpPr>
          <p:cNvPr id="109" name="Flow 109"/>
          <p:cNvSpPr/>
          <p:nvPr/>
        </p:nvSpPr>
        <p:spPr>
          <a:xfrm>
            <a:off x="1371600" y="8595360"/>
            <a:ext cx="1828800" cy="731520"/>
          </a:xfrm>
          <a:prstGeom prst="flowChartProcess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000000"/>
                </a:solidFill>
                <a:latin typeface="Calibri"/>
                <a:cs typeface="Calibri"/>
              </a:rPr>
              <a:t>Tree T</a:t>
            </a:r>
          </a:p>
        </p:txBody>
      </p:sp>
      <p:cxnSp>
        <p:nvCxnSpPr>
          <p:cNvPr id="110" name="Line 110"/>
          <p:cNvCxnSpPr/>
          <p:nvPr/>
        </p:nvCxnSpPr>
        <p:spPr>
          <a:xfrm flipV="1">
            <a:off x="3200400" y="7955280"/>
            <a:ext cx="1645920" cy="100584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sp>
        <p:nvSpPr>
          <p:cNvPr id="111" name="Flow 111"/>
          <p:cNvSpPr/>
          <p:nvPr/>
        </p:nvSpPr>
        <p:spPr>
          <a:xfrm>
            <a:off x="4846320" y="7498080"/>
            <a:ext cx="1737360" cy="914400"/>
          </a:xfrm>
          <a:prstGeom prst="flowChartProcess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dirty="0">
                <a:solidFill>
                  <a:srgbClr val="000000"/>
                </a:solidFill>
                <a:latin typeface="Calibri"/>
                <a:cs typeface="Calibri"/>
              </a:rPr>
              <a:t>Average</a:t>
            </a:r>
          </a:p>
        </p:txBody>
      </p:sp>
      <p:cxnSp>
        <p:nvCxnSpPr>
          <p:cNvPr id="112" name="Line 112"/>
          <p:cNvCxnSpPr/>
          <p:nvPr/>
        </p:nvCxnSpPr>
        <p:spPr>
          <a:xfrm>
            <a:off x="6583680" y="7955280"/>
            <a:ext cx="640080" cy="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sp>
        <p:nvSpPr>
          <p:cNvPr id="113" name="Flow 113"/>
          <p:cNvSpPr/>
          <p:nvPr/>
        </p:nvSpPr>
        <p:spPr>
          <a:xfrm>
            <a:off x="7223760" y="7498080"/>
            <a:ext cx="1280160" cy="914400"/>
          </a:xfrm>
          <a:prstGeom prst="flowChartTerminator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0" i="0" dirty="0">
                <a:solidFill>
                  <a:srgbClr val="000000"/>
                </a:solidFill>
                <a:latin typeface="Calibri"/>
                <a:cs typeface="Calibri"/>
              </a:rPr>
              <a:t>Price</a:t>
            </a:r>
          </a:p>
        </p:txBody>
      </p:sp>
      <p:sp>
        <p:nvSpPr>
          <p:cNvPr id="114" name="Panel 114"/>
          <p:cNvSpPr/>
          <p:nvPr/>
        </p:nvSpPr>
        <p:spPr>
          <a:xfrm>
            <a:off x="9326880" y="2194560"/>
            <a:ext cx="8046720" cy="74980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115" name="TextBox 115"/>
          <p:cNvSpPr txBox="1"/>
          <p:nvPr/>
        </p:nvSpPr>
        <p:spPr>
          <a:xfrm>
            <a:off x="9646920" y="2377440"/>
            <a:ext cx="74066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dirty="0">
                <a:solidFill>
                  <a:srgbClr val="1F2A6B"/>
                </a:solidFill>
                <a:latin typeface="Calibri"/>
                <a:cs typeface="Calibri"/>
              </a:rPr>
              <a:t>XGBoost Regression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9646920" y="3063240"/>
            <a:ext cx="7406640" cy="3291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2400" b="1" i="0" dirty="0">
                <a:solidFill>
                  <a:srgbClr val="1F2A6B"/>
                </a:solidFill>
                <a:latin typeface="Calibri"/>
                <a:cs typeface="Calibri"/>
              </a:rPr>
              <a:t>Idea. </a:t>
            </a:r>
            <a:r>
              <a:rPr lang="en-US" sz="2400" b="0" i="0" dirty="0">
                <a:solidFill>
                  <a:srgbClr val="1A1A1A"/>
                </a:solidFill>
                <a:latin typeface="Calibri"/>
                <a:cs typeface="Calibri"/>
              </a:rPr>
              <a:t>boosting: trees are added one by one, each fitted to the errors left by the trees before it, with regularisation.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2400" b="1" i="0" dirty="0">
                <a:solidFill>
                  <a:srgbClr val="1F2A6B"/>
                </a:solidFill>
                <a:latin typeface="Calibri"/>
                <a:cs typeface="Calibri"/>
              </a:rPr>
              <a:t>Formula. </a:t>
            </a:r>
            <a:r>
              <a:rPr lang="en-US" sz="2400" b="0" i="1" dirty="0">
                <a:solidFill>
                  <a:srgbClr val="1A1A1A"/>
                </a:solidFill>
                <a:latin typeface="Calibri"/>
                <a:cs typeface="Calibri"/>
              </a:rPr>
              <a:t>ŷ⁽ᵗ⁾ = ŷ⁽ᵗ⁻¹⁾ + η·fₜ(x)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F2A6B"/>
                </a:solidFill>
                <a:latin typeface="Calibri"/>
                <a:cs typeface="Calibri"/>
              </a:rPr>
              <a:t>Role here. </a:t>
            </a:r>
            <a:r>
              <a:rPr lang="en-US" sz="2400" b="0" i="0" dirty="0">
                <a:solidFill>
                  <a:srgbClr val="1A1A1A"/>
                </a:solidFill>
                <a:latin typeface="Calibri"/>
                <a:cs typeface="Calibri"/>
              </a:rPr>
              <a:t>often the most accurate on tabular data; tune learning rate, depth and n_estimators.</a:t>
            </a:r>
          </a:p>
        </p:txBody>
      </p:sp>
      <p:sp>
        <p:nvSpPr>
          <p:cNvPr id="117" name="Flow 117"/>
          <p:cNvSpPr/>
          <p:nvPr/>
        </p:nvSpPr>
        <p:spPr>
          <a:xfrm>
            <a:off x="9646920" y="6766560"/>
            <a:ext cx="1554480" cy="822960"/>
          </a:xfrm>
          <a:prstGeom prst="flowChartProcess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000000"/>
                </a:solidFill>
                <a:latin typeface="Calibri"/>
                <a:cs typeface="Calibri"/>
              </a:rPr>
              <a:t>Tree 1</a:t>
            </a:r>
          </a:p>
        </p:txBody>
      </p:sp>
      <p:sp>
        <p:nvSpPr>
          <p:cNvPr id="118" name="Flow 118"/>
          <p:cNvSpPr/>
          <p:nvPr/>
        </p:nvSpPr>
        <p:spPr>
          <a:xfrm>
            <a:off x="11658600" y="6766560"/>
            <a:ext cx="1554480" cy="822960"/>
          </a:xfrm>
          <a:prstGeom prst="flowChartProcess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000000"/>
                </a:solidFill>
                <a:latin typeface="Calibri"/>
                <a:cs typeface="Calibri"/>
              </a:rPr>
              <a:t>Tree 2</a:t>
            </a:r>
          </a:p>
        </p:txBody>
      </p:sp>
      <p:sp>
        <p:nvSpPr>
          <p:cNvPr id="119" name="Flow 119"/>
          <p:cNvSpPr/>
          <p:nvPr/>
        </p:nvSpPr>
        <p:spPr>
          <a:xfrm>
            <a:off x="13670280" y="6766560"/>
            <a:ext cx="1554480" cy="822960"/>
          </a:xfrm>
          <a:prstGeom prst="flowChartProcess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000000"/>
                </a:solidFill>
                <a:latin typeface="Calibri"/>
                <a:cs typeface="Calibri"/>
              </a:rPr>
              <a:t>Tree N</a:t>
            </a:r>
          </a:p>
        </p:txBody>
      </p:sp>
      <p:cxnSp>
        <p:nvCxnSpPr>
          <p:cNvPr id="120" name="Line 120"/>
          <p:cNvCxnSpPr/>
          <p:nvPr/>
        </p:nvCxnSpPr>
        <p:spPr>
          <a:xfrm>
            <a:off x="11201400" y="7178040"/>
            <a:ext cx="457200" cy="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cxnSp>
        <p:nvCxnSpPr>
          <p:cNvPr id="121" name="Line 121"/>
          <p:cNvCxnSpPr/>
          <p:nvPr/>
        </p:nvCxnSpPr>
        <p:spPr>
          <a:xfrm>
            <a:off x="13213080" y="7178040"/>
            <a:ext cx="457200" cy="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cxnSp>
        <p:nvCxnSpPr>
          <p:cNvPr id="122" name="Line 122"/>
          <p:cNvCxnSpPr/>
          <p:nvPr/>
        </p:nvCxnSpPr>
        <p:spPr>
          <a:xfrm>
            <a:off x="15224760" y="7178040"/>
            <a:ext cx="640080" cy="0"/>
          </a:xfrm>
          <a:prstGeom prst="line">
            <a:avLst/>
          </a:prstGeom>
          <a:ln w="28575">
            <a:solidFill>
              <a:srgbClr val="000000"/>
            </a:solidFill>
            <a:tailEnd type="triangle" w="med" len="med"/>
          </a:ln>
        </p:spPr>
      </p:cxnSp>
      <p:sp>
        <p:nvSpPr>
          <p:cNvPr id="123" name="Flow 123"/>
          <p:cNvSpPr/>
          <p:nvPr/>
        </p:nvSpPr>
        <p:spPr>
          <a:xfrm>
            <a:off x="15864840" y="6766560"/>
            <a:ext cx="1097280" cy="82296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00000"/>
            </a:solidFill>
          </a:ln>
        </p:spPr>
        <p:txBody>
          <a:bodyPr wrap="square" lIns="73152" tIns="36576" rIns="73152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000000"/>
                </a:solidFill>
                <a:latin typeface="Calibri"/>
                <a:cs typeface="Calibri"/>
              </a:rPr>
              <a:t>Σ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9646920" y="7955280"/>
            <a:ext cx="731520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555555"/>
                </a:solidFill>
                <a:latin typeface="Calibri"/>
                <a:cs typeface="Calibri"/>
              </a:rPr>
              <a:t>Each new tree corrects the residual errors of the previous trees; the final price is the weighted sum of all trees.</a:t>
            </a:r>
          </a:p>
        </p:txBody>
      </p:sp>
      <p:grpSp xmlns:p="http://schemas.openxmlformats.org/presentationml/2006/main" xmlns:a="http://schemas.openxmlformats.org/drawingml/2006/main" xmlns:r="http://schemas.openxmlformats.org/officeDocument/2006/relationships">
        <p:nvGrpSpPr>
          <p:cNvPr name="Group 4" id="4"/>
          <p:cNvGrpSpPr/>
          <p:nvPr/>
        </p:nvGrpSpPr>
        <p:grpSpPr>
          <a:xfrm rot="0">
            <a:off x="300933" y="362302"/>
            <a:ext cx="1601448" cy="1587151"/>
            <a:chOff x="0" y="0"/>
            <a:chExt cx="2135264" cy="21162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35251" cy="2116201"/>
            </a:xfrm>
            <a:custGeom>
              <a:avLst/>
              <a:gdLst/>
              <a:ahLst/>
              <a:cxnLst/>
              <a:rect r="r" b="b" t="t" l="l"/>
              <a:pathLst>
                <a:path h="2116201" w="2135251">
                  <a:moveTo>
                    <a:pt x="0" y="0"/>
                  </a:moveTo>
                  <a:lnTo>
                    <a:pt x="2135251" y="0"/>
                  </a:lnTo>
                  <a:lnTo>
                    <a:pt x="2135251" y="2116201"/>
                  </a:lnTo>
                  <a:lnTo>
                    <a:pt x="0" y="2116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15"/>
              </a:stretch>
            </a:blipFill>
          </p:spPr>
        </p:sp>
      </p:grpSp>
      <p:grpSp xmlns:p="http://schemas.openxmlformats.org/presentationml/2006/main" xmlns:a="http://schemas.openxmlformats.org/drawingml/2006/main" xmlns:r="http://schemas.openxmlformats.org/officeDocument/2006/relationships">
        <p:nvGrpSpPr>
          <p:cNvPr name="Group 6" id="6"/>
          <p:cNvGrpSpPr/>
          <p:nvPr/>
        </p:nvGrpSpPr>
        <p:grpSpPr>
          <a:xfrm rot="0">
            <a:off x="16049158" y="355225"/>
            <a:ext cx="1732521" cy="1656264"/>
            <a:chOff x="0" y="0"/>
            <a:chExt cx="2310028" cy="22083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0003" cy="2208403"/>
            </a:xfrm>
            <a:custGeom>
              <a:avLst/>
              <a:gdLst/>
              <a:ahLst/>
              <a:cxnLst/>
              <a:rect r="r" b="b" t="t" l="l"/>
              <a:pathLst>
                <a:path h="2208403" w="2310003">
                  <a:moveTo>
                    <a:pt x="0" y="0"/>
                  </a:moveTo>
                  <a:lnTo>
                    <a:pt x="2310003" y="0"/>
                  </a:lnTo>
                  <a:lnTo>
                    <a:pt x="2310003" y="2208403"/>
                  </a:lnTo>
                  <a:lnTo>
                    <a:pt x="0" y="2208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01" b="2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2286000" y="713232"/>
            <a:ext cx="135331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dirty="0">
                <a:solidFill>
                  <a:srgbClr val="000000"/>
                </a:solidFill>
                <a:latin typeface="Calibri"/>
                <a:cs typeface="Calibri"/>
              </a:rPr>
              <a:t>5. Research Methodology – Evaluation</a:t>
            </a:r>
          </a:p>
        </p:txBody>
      </p:sp>
      <p:sp>
        <p:nvSpPr>
          <p:cNvPr id="102" name="Card 102"/>
          <p:cNvSpPr/>
          <p:nvPr/>
        </p:nvSpPr>
        <p:spPr>
          <a:xfrm>
            <a:off x="914400" y="2286000"/>
            <a:ext cx="521208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103" name="TextBox 103"/>
          <p:cNvSpPr txBox="1"/>
          <p:nvPr/>
        </p:nvSpPr>
        <p:spPr>
          <a:xfrm>
            <a:off x="1280160" y="2514600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1F2A6B"/>
                </a:solidFill>
                <a:latin typeface="Calibri"/>
                <a:cs typeface="Calibri"/>
              </a:rPr>
              <a:t>MAE</a:t>
            </a:r>
          </a:p>
        </p:txBody>
      </p:sp>
      <p:sp>
        <p:nvSpPr>
          <p:cNvPr id="104" name="Formula 104"/>
          <p:cNvSpPr/>
          <p:nvPr/>
        </p:nvSpPr>
        <p:spPr>
          <a:xfrm>
            <a:off x="1280160" y="3474720"/>
            <a:ext cx="4480560" cy="128016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wrap="square" lIns="91440" tIns="0" rIns="9144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 dirty="0">
                <a:solidFill>
                  <a:srgbClr val="1A1A1A"/>
                </a:solidFill>
                <a:latin typeface="Calibri"/>
                <a:cs typeface="Calibri"/>
              </a:rPr>
              <a:t>MAE = (1/n) Σ |yᵢ − ŷᵢ|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280160" y="5074920"/>
            <a:ext cx="448056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dirty="0">
                <a:solidFill>
                  <a:srgbClr val="1A1A1A"/>
                </a:solidFill>
                <a:latin typeface="Calibri"/>
                <a:cs typeface="Calibri"/>
              </a:rPr>
              <a:t>Average size of the error in rupees. Easy to interpret; lower is better.</a:t>
            </a:r>
          </a:p>
        </p:txBody>
      </p:sp>
      <p:sp>
        <p:nvSpPr>
          <p:cNvPr id="106" name="Card 106"/>
          <p:cNvSpPr/>
          <p:nvPr/>
        </p:nvSpPr>
        <p:spPr>
          <a:xfrm>
            <a:off x="6537960" y="2286000"/>
            <a:ext cx="521208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107" name="TextBox 107"/>
          <p:cNvSpPr txBox="1"/>
          <p:nvPr/>
        </p:nvSpPr>
        <p:spPr>
          <a:xfrm>
            <a:off x="6903720" y="2514600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1F2A6B"/>
                </a:solidFill>
                <a:latin typeface="Calibri"/>
                <a:cs typeface="Calibri"/>
              </a:rPr>
              <a:t>RMSE</a:t>
            </a:r>
          </a:p>
        </p:txBody>
      </p:sp>
      <p:sp>
        <p:nvSpPr>
          <p:cNvPr id="108" name="Formula 108"/>
          <p:cNvSpPr/>
          <p:nvPr/>
        </p:nvSpPr>
        <p:spPr>
          <a:xfrm>
            <a:off x="6903720" y="3474720"/>
            <a:ext cx="4480560" cy="128016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wrap="square" lIns="91440" tIns="0" rIns="9144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 dirty="0">
                <a:solidFill>
                  <a:srgbClr val="1A1A1A"/>
                </a:solidFill>
                <a:latin typeface="Calibri"/>
                <a:cs typeface="Calibri"/>
              </a:rPr>
              <a:t>RMSE = √[(1/n) Σ (yᵢ − ŷᵢ)²]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6903720" y="5074920"/>
            <a:ext cx="448056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dirty="0">
                <a:solidFill>
                  <a:srgbClr val="1A1A1A"/>
                </a:solidFill>
                <a:latin typeface="Calibri"/>
                <a:cs typeface="Calibri"/>
              </a:rPr>
              <a:t>Like MAE but penalises large mistakes more. Lower is better.</a:t>
            </a:r>
          </a:p>
        </p:txBody>
      </p:sp>
      <p:sp>
        <p:nvSpPr>
          <p:cNvPr id="110" name="Card 110"/>
          <p:cNvSpPr/>
          <p:nvPr/>
        </p:nvSpPr>
        <p:spPr>
          <a:xfrm>
            <a:off x="12161520" y="2286000"/>
            <a:ext cx="521208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111" name="TextBox 111"/>
          <p:cNvSpPr txBox="1"/>
          <p:nvPr/>
        </p:nvSpPr>
        <p:spPr>
          <a:xfrm>
            <a:off x="12527280" y="2514600"/>
            <a:ext cx="44805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dirty="0">
                <a:solidFill>
                  <a:srgbClr val="1F2A6B"/>
                </a:solidFill>
                <a:latin typeface="Calibri"/>
                <a:cs typeface="Calibri"/>
              </a:rPr>
              <a:t>R² score</a:t>
            </a:r>
          </a:p>
        </p:txBody>
      </p:sp>
      <p:sp>
        <p:nvSpPr>
          <p:cNvPr id="112" name="Formula 112"/>
          <p:cNvSpPr/>
          <p:nvPr/>
        </p:nvSpPr>
        <p:spPr>
          <a:xfrm>
            <a:off x="12527280" y="3474720"/>
            <a:ext cx="4480560" cy="128016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wrap="square" lIns="91440" tIns="0" rIns="9144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1" dirty="0">
                <a:solidFill>
                  <a:srgbClr val="1A1A1A"/>
                </a:solidFill>
                <a:latin typeface="Calibri"/>
                <a:cs typeface="Calibri"/>
              </a:rPr>
              <a:t>R² = 1 − Σ(yᵢ − ŷᵢ)² / Σ(yᵢ − ȳ)²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2527280" y="5074920"/>
            <a:ext cx="4480560" cy="2011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i="0" dirty="0">
                <a:solidFill>
                  <a:srgbClr val="1A1A1A"/>
                </a:solidFill>
                <a:latin typeface="Calibri"/>
                <a:cs typeface="Calibri"/>
              </a:rPr>
              <a:t>Share of price variation the model explains. Closer to 1 is better.</a:t>
            </a:r>
          </a:p>
        </p:txBody>
      </p:sp>
      <p:sp>
        <p:nvSpPr>
          <p:cNvPr id="114" name="Rule 114"/>
          <p:cNvSpPr/>
          <p:nvPr/>
        </p:nvSpPr>
        <p:spPr>
          <a:xfrm>
            <a:off x="914400" y="7498080"/>
            <a:ext cx="16459200" cy="2194560"/>
          </a:xfrm>
          <a:prstGeom prst="roundRect">
            <a:avLst>
              <a:gd name="adj" fmla="val 8000"/>
            </a:avLst>
          </a:prstGeom>
          <a:solidFill>
            <a:srgbClr val="1F2A6B"/>
          </a:solidFill>
          <a:ln>
            <a:noFill/>
          </a:ln>
        </p:spPr>
        <p:txBody>
          <a:bodyPr wrap="square" lIns="457200" tIns="137160" rIns="457200" bIns="13716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  <a:cs typeface="Calibri"/>
              </a:rPr>
              <a:t>Model selection rule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dirty="0">
                <a:solidFill>
                  <a:srgbClr val="FFFFFF"/>
                </a:solidFill>
                <a:latin typeface="Calibri"/>
                <a:cs typeface="Calibri"/>
              </a:rPr>
              <a:t>Train on 80% of the data, test on the held-out 20%, and confirm with 5-fold cross-validation. The best model has the lowest MAE and RMSE and the highest R².</a:t>
            </a:r>
          </a:p>
        </p:txBody>
      </p:sp>
      <p:grpSp xmlns:p="http://schemas.openxmlformats.org/presentationml/2006/main" xmlns:a="http://schemas.openxmlformats.org/drawingml/2006/main" xmlns:r="http://schemas.openxmlformats.org/officeDocument/2006/relationships">
        <p:nvGrpSpPr>
          <p:cNvPr name="Group 4" id="4"/>
          <p:cNvGrpSpPr/>
          <p:nvPr/>
        </p:nvGrpSpPr>
        <p:grpSpPr>
          <a:xfrm rot="0">
            <a:off x="300933" y="362302"/>
            <a:ext cx="1601448" cy="1587151"/>
            <a:chOff x="0" y="0"/>
            <a:chExt cx="2135264" cy="21162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35251" cy="2116201"/>
            </a:xfrm>
            <a:custGeom>
              <a:avLst/>
              <a:gdLst/>
              <a:ahLst/>
              <a:cxnLst/>
              <a:rect r="r" b="b" t="t" l="l"/>
              <a:pathLst>
                <a:path h="2116201" w="2135251">
                  <a:moveTo>
                    <a:pt x="0" y="0"/>
                  </a:moveTo>
                  <a:lnTo>
                    <a:pt x="2135251" y="0"/>
                  </a:lnTo>
                  <a:lnTo>
                    <a:pt x="2135251" y="2116201"/>
                  </a:lnTo>
                  <a:lnTo>
                    <a:pt x="0" y="2116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15"/>
              </a:stretch>
            </a:blipFill>
          </p:spPr>
        </p:sp>
      </p:grpSp>
      <p:grpSp xmlns:p="http://schemas.openxmlformats.org/presentationml/2006/main" xmlns:a="http://schemas.openxmlformats.org/drawingml/2006/main" xmlns:r="http://schemas.openxmlformats.org/officeDocument/2006/relationships">
        <p:nvGrpSpPr>
          <p:cNvPr name="Group 6" id="6"/>
          <p:cNvGrpSpPr/>
          <p:nvPr/>
        </p:nvGrpSpPr>
        <p:grpSpPr>
          <a:xfrm rot="0">
            <a:off x="16049158" y="355225"/>
            <a:ext cx="1732521" cy="1656264"/>
            <a:chOff x="0" y="0"/>
            <a:chExt cx="2310028" cy="22083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0003" cy="2208403"/>
            </a:xfrm>
            <a:custGeom>
              <a:avLst/>
              <a:gdLst/>
              <a:ahLst/>
              <a:cxnLst/>
              <a:rect r="r" b="b" t="t" l="l"/>
              <a:pathLst>
                <a:path h="2208403" w="2310003">
                  <a:moveTo>
                    <a:pt x="0" y="0"/>
                  </a:moveTo>
                  <a:lnTo>
                    <a:pt x="2310003" y="0"/>
                  </a:lnTo>
                  <a:lnTo>
                    <a:pt x="2310003" y="2208403"/>
                  </a:lnTo>
                  <a:lnTo>
                    <a:pt x="0" y="2208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01" b="2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2286000" y="713232"/>
            <a:ext cx="135331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dirty="0">
                <a:solidFill>
                  <a:srgbClr val="000000"/>
                </a:solidFill>
                <a:latin typeface="Calibri"/>
                <a:cs typeface="Calibri"/>
              </a:rPr>
              <a:t>6. Comparison of Algorithms</a:t>
            </a:r>
          </a:p>
        </p:txBody>
      </p:sp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914400" y="2286000"/>
          <a:ext cx="16459200" cy="5897880"/>
        </p:xfrm>
        <a:graphic>
          <a:graphicData uri="http://schemas.openxmlformats.org/drawingml/2006/table">
            <a:tbl>
              <a:tblPr firstRow="1"/>
              <a:tblGrid>
                <a:gridCol w="2468880"/>
                <a:gridCol w="2011680"/>
                <a:gridCol w="1737360"/>
                <a:gridCol w="2286000"/>
                <a:gridCol w="1737360"/>
                <a:gridCol w="1554480"/>
                <a:gridCol w="4663440"/>
              </a:tblGrid>
              <a:tr h="8686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Algorithm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Model type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Non-linear patterns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Interpretability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Overfitting risk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Training cost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1F2A6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Evidence from literature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1F2A6B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 dirty="0">
                          <a:solidFill>
                            <a:srgbClr val="1F2A6B"/>
                          </a:solidFill>
                          <a:latin typeface="Calibri"/>
                          <a:cs typeface="Calibri"/>
                        </a:rPr>
                        <a:t>Linear Regression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Linear, parametric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Poor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Very high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Low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Very low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Standard baseline (Lin 2024, Chen 2024)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 dirty="0">
                          <a:solidFill>
                            <a:srgbClr val="1F2A6B"/>
                          </a:solidFill>
                          <a:latin typeface="Calibri"/>
                          <a:cs typeface="Calibri"/>
                        </a:rPr>
                        <a:t>Decision Tree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Single tree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Good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High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High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Low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Highest test R² in Chen (2024); weaker than RF in Pavlichko (2023)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 dirty="0">
                          <a:solidFill>
                            <a:srgbClr val="1F2A6B"/>
                          </a:solidFill>
                          <a:latin typeface="Calibri"/>
                          <a:cs typeface="Calibri"/>
                        </a:rPr>
                        <a:t>Random Forest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Bagging ensemble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Very good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Medium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Low–medium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Medium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Best in Lin (2024), Ramadhan (2025), Shakti Dheerays (2026)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801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b="1" i="0" dirty="0">
                          <a:solidFill>
                            <a:srgbClr val="1F2A6B"/>
                          </a:solidFill>
                          <a:latin typeface="Calibri"/>
                          <a:cs typeface="Calibri"/>
                        </a:rPr>
                        <a:t>XGBoost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Boosting ensemble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Excellent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Medium (SHAP helps)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Medium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Medium–high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dirty="0">
                          <a:solidFill>
                            <a:srgbClr val="1A1A1A"/>
                          </a:solidFill>
                          <a:latin typeface="Calibri"/>
                          <a:cs typeface="Calibri"/>
                        </a:rPr>
                        <a:t>Top scorer in Li (2025); boosting compared in Kasar (2025)</a:t>
                      </a:r>
                    </a:p>
                  </a:txBody>
                  <a:tcPr marL="109728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0D0D0"/>
                      </a:solidFill>
                    </a:lnB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103" name="Hypothesis 103"/>
          <p:cNvSpPr/>
          <p:nvPr/>
        </p:nvSpPr>
        <p:spPr>
          <a:xfrm>
            <a:off x="914400" y="8458200"/>
            <a:ext cx="1645920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F2A6B"/>
            </a:solidFill>
          </a:ln>
        </p:spPr>
        <p:txBody>
          <a:bodyPr wrap="square" lIns="320040" tIns="45720" rIns="320040" bIns="4572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i="0" dirty="0">
                <a:solidFill>
                  <a:srgbClr val="1F2A6B"/>
                </a:solidFill>
                <a:latin typeface="Calibri"/>
                <a:cs typeface="Calibri"/>
              </a:rPr>
              <a:t>Hypothesis from the literature: </a:t>
            </a:r>
            <a:r>
              <a:rPr lang="en-US" sz="2300" b="0" i="0" dirty="0">
                <a:solidFill>
                  <a:srgbClr val="1A1A1A"/>
                </a:solidFill>
                <a:latin typeface="Calibri"/>
                <a:cs typeface="Calibri"/>
              </a:rPr>
              <a:t>tree ensembles (Random Forest, XGBoost) should rank highest. The final ranking will come from our own results on one dataset.</a:t>
            </a:r>
          </a:p>
        </p:txBody>
      </p:sp>
      <p:grpSp xmlns:p="http://schemas.openxmlformats.org/presentationml/2006/main" xmlns:a="http://schemas.openxmlformats.org/drawingml/2006/main" xmlns:r="http://schemas.openxmlformats.org/officeDocument/2006/relationships">
        <p:nvGrpSpPr>
          <p:cNvPr name="Group 4" id="4"/>
          <p:cNvGrpSpPr/>
          <p:nvPr/>
        </p:nvGrpSpPr>
        <p:grpSpPr>
          <a:xfrm rot="0">
            <a:off x="300933" y="362302"/>
            <a:ext cx="1601448" cy="1587151"/>
            <a:chOff x="0" y="0"/>
            <a:chExt cx="2135264" cy="21162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35251" cy="2116201"/>
            </a:xfrm>
            <a:custGeom>
              <a:avLst/>
              <a:gdLst/>
              <a:ahLst/>
              <a:cxnLst/>
              <a:rect r="r" b="b" t="t" l="l"/>
              <a:pathLst>
                <a:path h="2116201" w="2135251">
                  <a:moveTo>
                    <a:pt x="0" y="0"/>
                  </a:moveTo>
                  <a:lnTo>
                    <a:pt x="2135251" y="0"/>
                  </a:lnTo>
                  <a:lnTo>
                    <a:pt x="2135251" y="2116201"/>
                  </a:lnTo>
                  <a:lnTo>
                    <a:pt x="0" y="2116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15"/>
              </a:stretch>
            </a:blipFill>
          </p:spPr>
        </p:sp>
      </p:grpSp>
      <p:grpSp xmlns:p="http://schemas.openxmlformats.org/presentationml/2006/main" xmlns:a="http://schemas.openxmlformats.org/drawingml/2006/main" xmlns:r="http://schemas.openxmlformats.org/officeDocument/2006/relationships">
        <p:nvGrpSpPr>
          <p:cNvPr name="Group 6" id="6"/>
          <p:cNvGrpSpPr/>
          <p:nvPr/>
        </p:nvGrpSpPr>
        <p:grpSpPr>
          <a:xfrm rot="0">
            <a:off x="16049158" y="355225"/>
            <a:ext cx="1732521" cy="1656264"/>
            <a:chOff x="0" y="0"/>
            <a:chExt cx="2310028" cy="22083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0003" cy="2208403"/>
            </a:xfrm>
            <a:custGeom>
              <a:avLst/>
              <a:gdLst/>
              <a:ahLst/>
              <a:cxnLst/>
              <a:rect r="r" b="b" t="t" l="l"/>
              <a:pathLst>
                <a:path h="2208403" w="2310003">
                  <a:moveTo>
                    <a:pt x="0" y="0"/>
                  </a:moveTo>
                  <a:lnTo>
                    <a:pt x="2310003" y="0"/>
                  </a:lnTo>
                  <a:lnTo>
                    <a:pt x="2310003" y="2208403"/>
                  </a:lnTo>
                  <a:lnTo>
                    <a:pt x="0" y="2208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01" b="2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2286000" y="713232"/>
            <a:ext cx="135331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dirty="0">
                <a:solidFill>
                  <a:srgbClr val="000000"/>
                </a:solidFill>
                <a:latin typeface="Calibri"/>
                <a:cs typeface="Calibri"/>
              </a:rPr>
              <a:t>7. Implementation Idea</a:t>
            </a:r>
          </a:p>
        </p:txBody>
      </p:sp>
      <p:sp>
        <p:nvSpPr>
          <p:cNvPr id="102" name="Tools 102"/>
          <p:cNvSpPr/>
          <p:nvPr/>
        </p:nvSpPr>
        <p:spPr>
          <a:xfrm>
            <a:off x="914400" y="2194560"/>
            <a:ext cx="768096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274320" tIns="182880" rIns="274320" bIns="9144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800" b="1" i="0" dirty="0">
                <a:solidFill>
                  <a:srgbClr val="1F2A6B"/>
                </a:solidFill>
                <a:latin typeface="Calibri"/>
                <a:cs typeface="Calibri"/>
              </a:rPr>
              <a:t>Data &amp; tools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0" i="0" dirty="0">
                <a:solidFill>
                  <a:srgbClr val="1A1A1A"/>
                </a:solidFill>
                <a:latin typeface="Calibri"/>
                <a:cs typeface="Calibri"/>
              </a:rPr>
              <a:t>Public used-car listings dataset (e.g. CarDekho / Kaggle): year, km driven, fuel, transmission, owner, brand; target = selling price.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dirty="0">
                <a:solidFill>
                  <a:srgbClr val="1A1A1A"/>
                </a:solidFill>
                <a:latin typeface="Calibri"/>
                <a:cs typeface="Calibri"/>
              </a:rPr>
              <a:t>Python · Pandas · NumPy · Scikit-learn · XGBoost · Matplotlib / Seaborn · Jupyter or Colab · Streamlit</a:t>
            </a:r>
          </a:p>
        </p:txBody>
      </p:sp>
      <p:sp>
        <p:nvSpPr>
          <p:cNvPr id="103" name="Code 103"/>
          <p:cNvSpPr/>
          <p:nvPr/>
        </p:nvSpPr>
        <p:spPr>
          <a:xfrm>
            <a:off x="914400" y="5715000"/>
            <a:ext cx="7680960" cy="3886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274320" tIns="182880" rIns="274320" bIns="9144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800" b="1" i="0" dirty="0">
                <a:solidFill>
                  <a:srgbClr val="1F2A6B"/>
                </a:solidFill>
                <a:latin typeface="Calibri"/>
                <a:cs typeface="Calibri"/>
              </a:rPr>
              <a:t>Code sketch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1A1A1A"/>
                </a:solidFill>
                <a:latin typeface="Courier New"/>
                <a:cs typeface="Courier New"/>
              </a:rPr>
              <a:t>pipe = Pipeline([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1A1A1A"/>
                </a:solidFill>
                <a:latin typeface="Courier New"/>
                <a:cs typeface="Courier New"/>
              </a:rPr>
              <a:t>  ("prep", ColumnTransformer([...])),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1A1A1A"/>
                </a:solidFill>
                <a:latin typeface="Courier New"/>
                <a:cs typeface="Courier New"/>
              </a:rPr>
              <a:t>  ("model", RandomForestRegressor())])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1A1A1A"/>
                </a:solidFill>
                <a:latin typeface="Courier New"/>
                <a:cs typeface="Courier New"/>
              </a:rPr>
              <a:t>pipe.fit(X_train, y_train)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1A1A1A"/>
                </a:solidFill>
                <a:latin typeface="Courier New"/>
                <a:cs typeface="Courier New"/>
              </a:rPr>
              <a:t>pred = pipe.predict(X_test)</a:t>
            </a:r>
          </a:p>
        </p:txBody>
      </p:sp>
      <p:sp>
        <p:nvSpPr>
          <p:cNvPr id="104" name="Num 104"/>
          <p:cNvSpPr/>
          <p:nvPr/>
        </p:nvSpPr>
        <p:spPr>
          <a:xfrm>
            <a:off x="9052560" y="2194560"/>
            <a:ext cx="822960" cy="822960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0104120" y="2084832"/>
            <a:ext cx="72694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F2A6B"/>
                </a:solidFill>
                <a:latin typeface="Calibri"/>
                <a:cs typeface="Calibri"/>
              </a:rPr>
              <a:t>Clean: </a:t>
            </a:r>
            <a:r>
              <a:rPr lang="en-US" sz="2400" b="0" i="0" dirty="0">
                <a:solidFill>
                  <a:srgbClr val="1A1A1A"/>
                </a:solidFill>
                <a:latin typeface="Calibri"/>
                <a:cs typeface="Calibri"/>
              </a:rPr>
              <a:t>drop duplicates, fill missing values, cap outliers.</a:t>
            </a:r>
          </a:p>
        </p:txBody>
      </p:sp>
      <p:sp>
        <p:nvSpPr>
          <p:cNvPr id="106" name="Num 106"/>
          <p:cNvSpPr/>
          <p:nvPr/>
        </p:nvSpPr>
        <p:spPr>
          <a:xfrm>
            <a:off x="9052560" y="3447288"/>
            <a:ext cx="822960" cy="822960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10104120" y="3337560"/>
            <a:ext cx="72694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F2A6B"/>
                </a:solidFill>
                <a:latin typeface="Calibri"/>
                <a:cs typeface="Calibri"/>
              </a:rPr>
              <a:t>Engineer: </a:t>
            </a:r>
            <a:r>
              <a:rPr lang="en-US" sz="2400" b="0" i="0" dirty="0">
                <a:solidFill>
                  <a:srgbClr val="1A1A1A"/>
                </a:solidFill>
                <a:latin typeface="Calibri"/>
                <a:cs typeface="Calibri"/>
              </a:rPr>
              <a:t>car age = 2026 − year; encode categories; scale for LR; log-transform price.</a:t>
            </a:r>
          </a:p>
        </p:txBody>
      </p:sp>
      <p:sp>
        <p:nvSpPr>
          <p:cNvPr id="108" name="Num 108"/>
          <p:cNvSpPr/>
          <p:nvPr/>
        </p:nvSpPr>
        <p:spPr>
          <a:xfrm>
            <a:off x="9052560" y="4700016"/>
            <a:ext cx="822960" cy="822960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10104120" y="4590288"/>
            <a:ext cx="72694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F2A6B"/>
                </a:solidFill>
                <a:latin typeface="Calibri"/>
                <a:cs typeface="Calibri"/>
              </a:rPr>
              <a:t>Split: </a:t>
            </a:r>
            <a:r>
              <a:rPr lang="en-US" sz="2400" b="0" i="0" dirty="0">
                <a:solidFill>
                  <a:srgbClr val="1A1A1A"/>
                </a:solidFill>
                <a:latin typeface="Calibri"/>
                <a:cs typeface="Calibri"/>
              </a:rPr>
              <a:t>80:20 train/test with 5-fold cross-validation.</a:t>
            </a:r>
          </a:p>
        </p:txBody>
      </p:sp>
      <p:sp>
        <p:nvSpPr>
          <p:cNvPr id="110" name="Num 110"/>
          <p:cNvSpPr/>
          <p:nvPr/>
        </p:nvSpPr>
        <p:spPr>
          <a:xfrm>
            <a:off x="9052560" y="5952744"/>
            <a:ext cx="822960" cy="822960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0104120" y="5843016"/>
            <a:ext cx="72694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F2A6B"/>
                </a:solidFill>
                <a:latin typeface="Calibri"/>
                <a:cs typeface="Calibri"/>
              </a:rPr>
              <a:t>Train: </a:t>
            </a:r>
            <a:r>
              <a:rPr lang="en-US" sz="2400" b="0" i="0" dirty="0">
                <a:solidFill>
                  <a:srgbClr val="1A1A1A"/>
                </a:solidFill>
                <a:latin typeface="Calibri"/>
                <a:cs typeface="Calibri"/>
              </a:rPr>
              <a:t>LR, DT, RF, XGBoost with GridSearchCV tuning.</a:t>
            </a:r>
          </a:p>
        </p:txBody>
      </p:sp>
      <p:sp>
        <p:nvSpPr>
          <p:cNvPr id="112" name="Num 112"/>
          <p:cNvSpPr/>
          <p:nvPr/>
        </p:nvSpPr>
        <p:spPr>
          <a:xfrm>
            <a:off x="9052560" y="7205472"/>
            <a:ext cx="822960" cy="822960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0104120" y="7095744"/>
            <a:ext cx="72694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F2A6B"/>
                </a:solidFill>
                <a:latin typeface="Calibri"/>
                <a:cs typeface="Calibri"/>
              </a:rPr>
              <a:t>Evaluate: </a:t>
            </a:r>
            <a:r>
              <a:rPr lang="en-US" sz="2400" b="0" i="0" dirty="0">
                <a:solidFill>
                  <a:srgbClr val="1A1A1A"/>
                </a:solidFill>
                <a:latin typeface="Calibri"/>
                <a:cs typeface="Calibri"/>
              </a:rPr>
              <a:t>MAE, RMSE and R² on the test set; pick the best.</a:t>
            </a:r>
          </a:p>
        </p:txBody>
      </p:sp>
      <p:sp>
        <p:nvSpPr>
          <p:cNvPr id="114" name="Num 114"/>
          <p:cNvSpPr/>
          <p:nvPr/>
        </p:nvSpPr>
        <p:spPr>
          <a:xfrm>
            <a:off x="9052560" y="8458200"/>
            <a:ext cx="822960" cy="822960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10104120" y="8348472"/>
            <a:ext cx="72694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F2A6B"/>
                </a:solidFill>
                <a:latin typeface="Calibri"/>
                <a:cs typeface="Calibri"/>
              </a:rPr>
              <a:t>Deploy: </a:t>
            </a:r>
            <a:r>
              <a:rPr lang="en-US" sz="2400" b="0" i="0" dirty="0">
                <a:solidFill>
                  <a:srgbClr val="1A1A1A"/>
                </a:solidFill>
                <a:latin typeface="Calibri"/>
                <a:cs typeface="Calibri"/>
              </a:rPr>
              <a:t>save with joblib; Streamlit form returns the predicted price.</a:t>
            </a:r>
          </a:p>
        </p:txBody>
      </p:sp>
      <p:grpSp xmlns:p="http://schemas.openxmlformats.org/presentationml/2006/main" xmlns:a="http://schemas.openxmlformats.org/drawingml/2006/main" xmlns:r="http://schemas.openxmlformats.org/officeDocument/2006/relationships">
        <p:nvGrpSpPr>
          <p:cNvPr name="Group 4" id="4"/>
          <p:cNvGrpSpPr/>
          <p:nvPr/>
        </p:nvGrpSpPr>
        <p:grpSpPr>
          <a:xfrm rot="0">
            <a:off x="300933" y="362302"/>
            <a:ext cx="1601448" cy="1587151"/>
            <a:chOff x="0" y="0"/>
            <a:chExt cx="2135264" cy="21162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35251" cy="2116201"/>
            </a:xfrm>
            <a:custGeom>
              <a:avLst/>
              <a:gdLst/>
              <a:ahLst/>
              <a:cxnLst/>
              <a:rect r="r" b="b" t="t" l="l"/>
              <a:pathLst>
                <a:path h="2116201" w="2135251">
                  <a:moveTo>
                    <a:pt x="0" y="0"/>
                  </a:moveTo>
                  <a:lnTo>
                    <a:pt x="2135251" y="0"/>
                  </a:lnTo>
                  <a:lnTo>
                    <a:pt x="2135251" y="2116201"/>
                  </a:lnTo>
                  <a:lnTo>
                    <a:pt x="0" y="2116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15"/>
              </a:stretch>
            </a:blipFill>
          </p:spPr>
        </p:sp>
      </p:grpSp>
      <p:grpSp xmlns:p="http://schemas.openxmlformats.org/presentationml/2006/main" xmlns:a="http://schemas.openxmlformats.org/drawingml/2006/main" xmlns:r="http://schemas.openxmlformats.org/officeDocument/2006/relationships">
        <p:nvGrpSpPr>
          <p:cNvPr name="Group 6" id="6"/>
          <p:cNvGrpSpPr/>
          <p:nvPr/>
        </p:nvGrpSpPr>
        <p:grpSpPr>
          <a:xfrm rot="0">
            <a:off x="16049158" y="355225"/>
            <a:ext cx="1732521" cy="1656264"/>
            <a:chOff x="0" y="0"/>
            <a:chExt cx="2310028" cy="22083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0003" cy="2208403"/>
            </a:xfrm>
            <a:custGeom>
              <a:avLst/>
              <a:gdLst/>
              <a:ahLst/>
              <a:cxnLst/>
              <a:rect r="r" b="b" t="t" l="l"/>
              <a:pathLst>
                <a:path h="2208403" w="2310003">
                  <a:moveTo>
                    <a:pt x="0" y="0"/>
                  </a:moveTo>
                  <a:lnTo>
                    <a:pt x="2310003" y="0"/>
                  </a:lnTo>
                  <a:lnTo>
                    <a:pt x="2310003" y="2208403"/>
                  </a:lnTo>
                  <a:lnTo>
                    <a:pt x="0" y="2208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01" b="2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2286000" y="713232"/>
            <a:ext cx="135331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dirty="0">
                <a:solidFill>
                  <a:srgbClr val="000000"/>
                </a:solidFill>
                <a:latin typeface="Calibri"/>
                <a:cs typeface="Calibri"/>
              </a:rPr>
              <a:t>8. Modules</a:t>
            </a:r>
          </a:p>
        </p:txBody>
      </p:sp>
      <p:sp>
        <p:nvSpPr>
          <p:cNvPr id="102" name="Row 102"/>
          <p:cNvSpPr/>
          <p:nvPr/>
        </p:nvSpPr>
        <p:spPr>
          <a:xfrm>
            <a:off x="914400" y="2194560"/>
            <a:ext cx="16459200" cy="13350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103" name="Num 103"/>
          <p:cNvSpPr/>
          <p:nvPr/>
        </p:nvSpPr>
        <p:spPr>
          <a:xfrm>
            <a:off x="1188720" y="2450592"/>
            <a:ext cx="822960" cy="822960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2286000" y="2267712"/>
            <a:ext cx="9418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600" b="1" i="0" dirty="0">
                <a:solidFill>
                  <a:srgbClr val="1F2A6B"/>
                </a:solidFill>
                <a:latin typeface="Calibri"/>
                <a:cs typeface="Calibri"/>
              </a:rPr>
              <a:t>Module 1 – Data Collection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dirty="0">
                <a:solidFill>
                  <a:srgbClr val="1A1A1A"/>
                </a:solidFill>
                <a:latin typeface="Calibri"/>
                <a:cs typeface="Calibri"/>
              </a:rPr>
              <a:t>Load the used-car dataset; inspect features, target, size and data types.</a:t>
            </a:r>
          </a:p>
        </p:txBody>
      </p:sp>
      <p:sp>
        <p:nvSpPr>
          <p:cNvPr id="105" name="Output 105"/>
          <p:cNvSpPr/>
          <p:nvPr/>
        </p:nvSpPr>
        <p:spPr>
          <a:xfrm>
            <a:off x="11978640" y="2377440"/>
            <a:ext cx="5120640" cy="969264"/>
          </a:xfrm>
          <a:prstGeom prst="roundRect">
            <a:avLst>
              <a:gd name="adj" fmla="val 15000"/>
            </a:avLst>
          </a:prstGeom>
          <a:solidFill>
            <a:srgbClr val="F6F6F6"/>
          </a:solidFill>
          <a:ln>
            <a:noFill/>
          </a:ln>
        </p:spPr>
        <p:txBody>
          <a:bodyPr wrap="square" lIns="182880" tIns="0" rIns="18288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dirty="0">
                <a:solidFill>
                  <a:srgbClr val="1F2A6B"/>
                </a:solidFill>
                <a:latin typeface="Calibri"/>
                <a:cs typeface="Calibri"/>
              </a:rPr>
              <a:t>Output: </a:t>
            </a:r>
            <a:r>
              <a:rPr lang="en-US" sz="2100" b="0" i="0" dirty="0">
                <a:solidFill>
                  <a:srgbClr val="1A1A1A"/>
                </a:solidFill>
                <a:latin typeface="Calibri"/>
                <a:cs typeface="Calibri"/>
              </a:rPr>
              <a:t>Raw dataset</a:t>
            </a:r>
          </a:p>
        </p:txBody>
      </p:sp>
      <p:sp>
        <p:nvSpPr>
          <p:cNvPr id="106" name="Row 106"/>
          <p:cNvSpPr/>
          <p:nvPr/>
        </p:nvSpPr>
        <p:spPr>
          <a:xfrm>
            <a:off x="914400" y="3694176"/>
            <a:ext cx="16459200" cy="13350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107" name="Num 107"/>
          <p:cNvSpPr/>
          <p:nvPr/>
        </p:nvSpPr>
        <p:spPr>
          <a:xfrm>
            <a:off x="1188720" y="3950208"/>
            <a:ext cx="822960" cy="822960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2286000" y="3767328"/>
            <a:ext cx="9418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600" b="1" i="0" dirty="0">
                <a:solidFill>
                  <a:srgbClr val="1F2A6B"/>
                </a:solidFill>
                <a:latin typeface="Calibri"/>
                <a:cs typeface="Calibri"/>
              </a:rPr>
              <a:t>Module 2 – Preprocessing &amp; Feature Engineering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dirty="0">
                <a:solidFill>
                  <a:srgbClr val="1A1A1A"/>
                </a:solidFill>
                <a:latin typeface="Calibri"/>
                <a:cs typeface="Calibri"/>
              </a:rPr>
              <a:t>Handle missing, duplicate and outlier values; compute car age; encode and scale; split 80:20.</a:t>
            </a:r>
          </a:p>
        </p:txBody>
      </p:sp>
      <p:sp>
        <p:nvSpPr>
          <p:cNvPr id="109" name="Output 109"/>
          <p:cNvSpPr/>
          <p:nvPr/>
        </p:nvSpPr>
        <p:spPr>
          <a:xfrm>
            <a:off x="11978640" y="3877056"/>
            <a:ext cx="5120640" cy="969264"/>
          </a:xfrm>
          <a:prstGeom prst="roundRect">
            <a:avLst>
              <a:gd name="adj" fmla="val 15000"/>
            </a:avLst>
          </a:prstGeom>
          <a:solidFill>
            <a:srgbClr val="F6F6F6"/>
          </a:solidFill>
          <a:ln>
            <a:noFill/>
          </a:ln>
        </p:spPr>
        <p:txBody>
          <a:bodyPr wrap="square" lIns="182880" tIns="0" rIns="18288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dirty="0">
                <a:solidFill>
                  <a:srgbClr val="1F2A6B"/>
                </a:solidFill>
                <a:latin typeface="Calibri"/>
                <a:cs typeface="Calibri"/>
              </a:rPr>
              <a:t>Output: </a:t>
            </a:r>
            <a:r>
              <a:rPr lang="en-US" sz="2100" b="0" i="0" dirty="0">
                <a:solidFill>
                  <a:srgbClr val="1A1A1A"/>
                </a:solidFill>
                <a:latin typeface="Calibri"/>
                <a:cs typeface="Calibri"/>
              </a:rPr>
              <a:t>Clean train / test sets</a:t>
            </a:r>
          </a:p>
        </p:txBody>
      </p:sp>
      <p:sp>
        <p:nvSpPr>
          <p:cNvPr id="110" name="Row 110"/>
          <p:cNvSpPr/>
          <p:nvPr/>
        </p:nvSpPr>
        <p:spPr>
          <a:xfrm>
            <a:off x="914400" y="5193792"/>
            <a:ext cx="16459200" cy="13350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111" name="Num 111"/>
          <p:cNvSpPr/>
          <p:nvPr/>
        </p:nvSpPr>
        <p:spPr>
          <a:xfrm>
            <a:off x="1188720" y="5449824"/>
            <a:ext cx="822960" cy="822960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2286000" y="5266944"/>
            <a:ext cx="9418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600" b="1" i="0" dirty="0">
                <a:solidFill>
                  <a:srgbClr val="1F2A6B"/>
                </a:solidFill>
                <a:latin typeface="Calibri"/>
                <a:cs typeface="Calibri"/>
              </a:rPr>
              <a:t>Module 3 – Exploratory Data Analysis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dirty="0">
                <a:solidFill>
                  <a:srgbClr val="1A1A1A"/>
                </a:solidFill>
                <a:latin typeface="Calibri"/>
                <a:cs typeface="Calibri"/>
              </a:rPr>
              <a:t>Price distribution, price vs age and km, correlations, brand and fuel effects.</a:t>
            </a:r>
          </a:p>
        </p:txBody>
      </p:sp>
      <p:sp>
        <p:nvSpPr>
          <p:cNvPr id="113" name="Output 113"/>
          <p:cNvSpPr/>
          <p:nvPr/>
        </p:nvSpPr>
        <p:spPr>
          <a:xfrm>
            <a:off x="11978640" y="5376672"/>
            <a:ext cx="5120640" cy="969264"/>
          </a:xfrm>
          <a:prstGeom prst="roundRect">
            <a:avLst>
              <a:gd name="adj" fmla="val 15000"/>
            </a:avLst>
          </a:prstGeom>
          <a:solidFill>
            <a:srgbClr val="F6F6F6"/>
          </a:solidFill>
          <a:ln>
            <a:noFill/>
          </a:ln>
        </p:spPr>
        <p:txBody>
          <a:bodyPr wrap="square" lIns="182880" tIns="0" rIns="18288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dirty="0">
                <a:solidFill>
                  <a:srgbClr val="1F2A6B"/>
                </a:solidFill>
                <a:latin typeface="Calibri"/>
                <a:cs typeface="Calibri"/>
              </a:rPr>
              <a:t>Output: </a:t>
            </a:r>
            <a:r>
              <a:rPr lang="en-US" sz="2100" b="0" i="0" dirty="0">
                <a:solidFill>
                  <a:srgbClr val="1A1A1A"/>
                </a:solidFill>
                <a:latin typeface="Calibri"/>
                <a:cs typeface="Calibri"/>
              </a:rPr>
              <a:t>Insights, selected features</a:t>
            </a:r>
          </a:p>
        </p:txBody>
      </p:sp>
      <p:sp>
        <p:nvSpPr>
          <p:cNvPr id="114" name="Row 114"/>
          <p:cNvSpPr/>
          <p:nvPr/>
        </p:nvSpPr>
        <p:spPr>
          <a:xfrm>
            <a:off x="914400" y="6693408"/>
            <a:ext cx="16459200" cy="13350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115" name="Num 115"/>
          <p:cNvSpPr/>
          <p:nvPr/>
        </p:nvSpPr>
        <p:spPr>
          <a:xfrm>
            <a:off x="1188720" y="6949440"/>
            <a:ext cx="822960" cy="822960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2286000" y="6766560"/>
            <a:ext cx="9418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600" b="1" i="0" dirty="0">
                <a:solidFill>
                  <a:srgbClr val="1F2A6B"/>
                </a:solidFill>
                <a:latin typeface="Calibri"/>
                <a:cs typeface="Calibri"/>
              </a:rPr>
              <a:t>Module 4 – Model Training &amp; Comparison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dirty="0">
                <a:solidFill>
                  <a:srgbClr val="1A1A1A"/>
                </a:solidFill>
                <a:latin typeface="Calibri"/>
                <a:cs typeface="Calibri"/>
              </a:rPr>
              <a:t>Train LR, DT, RF and XGBoost; tune with GridSearchCV and 5-fold CV.</a:t>
            </a:r>
          </a:p>
        </p:txBody>
      </p:sp>
      <p:sp>
        <p:nvSpPr>
          <p:cNvPr id="117" name="Output 117"/>
          <p:cNvSpPr/>
          <p:nvPr/>
        </p:nvSpPr>
        <p:spPr>
          <a:xfrm>
            <a:off x="11978640" y="6876288"/>
            <a:ext cx="5120640" cy="969264"/>
          </a:xfrm>
          <a:prstGeom prst="roundRect">
            <a:avLst>
              <a:gd name="adj" fmla="val 15000"/>
            </a:avLst>
          </a:prstGeom>
          <a:solidFill>
            <a:srgbClr val="F6F6F6"/>
          </a:solidFill>
          <a:ln>
            <a:noFill/>
          </a:ln>
        </p:spPr>
        <p:txBody>
          <a:bodyPr wrap="square" lIns="182880" tIns="0" rIns="18288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dirty="0">
                <a:solidFill>
                  <a:srgbClr val="1F2A6B"/>
                </a:solidFill>
                <a:latin typeface="Calibri"/>
                <a:cs typeface="Calibri"/>
              </a:rPr>
              <a:t>Output: </a:t>
            </a:r>
            <a:r>
              <a:rPr lang="en-US" sz="2100" b="0" i="0" dirty="0">
                <a:solidFill>
                  <a:srgbClr val="1A1A1A"/>
                </a:solidFill>
                <a:latin typeface="Calibri"/>
                <a:cs typeface="Calibri"/>
              </a:rPr>
              <a:t>Trained, tuned models</a:t>
            </a:r>
          </a:p>
        </p:txBody>
      </p:sp>
      <p:sp>
        <p:nvSpPr>
          <p:cNvPr id="118" name="Row 118"/>
          <p:cNvSpPr/>
          <p:nvPr/>
        </p:nvSpPr>
        <p:spPr>
          <a:xfrm>
            <a:off x="914400" y="8193024"/>
            <a:ext cx="16459200" cy="133502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0" tIns="0" rIns="0" bIns="0" anchor="t" rtlCol="0">
            <a:noAutofit/>
          </a:bodyPr>
          <a:lstStyle/>
          <a:p>
            <a:endParaRPr lang="en-US"/>
          </a:p>
        </p:txBody>
      </p:sp>
      <p:sp>
        <p:nvSpPr>
          <p:cNvPr id="119" name="Num 119"/>
          <p:cNvSpPr/>
          <p:nvPr/>
        </p:nvSpPr>
        <p:spPr>
          <a:xfrm>
            <a:off x="1188720" y="8449056"/>
            <a:ext cx="822960" cy="822960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2286000" y="8266176"/>
            <a:ext cx="941832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600" b="1" i="0" dirty="0">
                <a:solidFill>
                  <a:srgbClr val="1F2A6B"/>
                </a:solidFill>
                <a:latin typeface="Calibri"/>
                <a:cs typeface="Calibri"/>
              </a:rPr>
              <a:t>Module 5 – Evaluation &amp; Price Prediction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dirty="0">
                <a:solidFill>
                  <a:srgbClr val="1A1A1A"/>
                </a:solidFill>
                <a:latin typeface="Calibri"/>
                <a:cs typeface="Calibri"/>
              </a:rPr>
              <a:t>Score with MAE, RMSE, R²; choose the best; predict price for a new car in a Streamlit app.</a:t>
            </a:r>
          </a:p>
        </p:txBody>
      </p:sp>
      <p:sp>
        <p:nvSpPr>
          <p:cNvPr id="121" name="Output 121"/>
          <p:cNvSpPr/>
          <p:nvPr/>
        </p:nvSpPr>
        <p:spPr>
          <a:xfrm>
            <a:off x="11978640" y="8375904"/>
            <a:ext cx="5120640" cy="969264"/>
          </a:xfrm>
          <a:prstGeom prst="roundRect">
            <a:avLst>
              <a:gd name="adj" fmla="val 15000"/>
            </a:avLst>
          </a:prstGeom>
          <a:solidFill>
            <a:srgbClr val="F6F6F6"/>
          </a:solidFill>
          <a:ln>
            <a:noFill/>
          </a:ln>
        </p:spPr>
        <p:txBody>
          <a:bodyPr wrap="square" lIns="182880" tIns="0" rIns="18288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dirty="0">
                <a:solidFill>
                  <a:srgbClr val="1F2A6B"/>
                </a:solidFill>
                <a:latin typeface="Calibri"/>
                <a:cs typeface="Calibri"/>
              </a:rPr>
              <a:t>Output: </a:t>
            </a:r>
            <a:r>
              <a:rPr lang="en-US" sz="2100" b="0" i="0" dirty="0">
                <a:solidFill>
                  <a:srgbClr val="1A1A1A"/>
                </a:solidFill>
                <a:latin typeface="Calibri"/>
                <a:cs typeface="Calibri"/>
              </a:rPr>
              <a:t>Best model + predicted price</a:t>
            </a:r>
          </a:p>
        </p:txBody>
      </p:sp>
      <p:grpSp xmlns:p="http://schemas.openxmlformats.org/presentationml/2006/main" xmlns:a="http://schemas.openxmlformats.org/drawingml/2006/main" xmlns:r="http://schemas.openxmlformats.org/officeDocument/2006/relationships">
        <p:nvGrpSpPr>
          <p:cNvPr name="Group 4" id="4"/>
          <p:cNvGrpSpPr/>
          <p:nvPr/>
        </p:nvGrpSpPr>
        <p:grpSpPr>
          <a:xfrm rot="0">
            <a:off x="300933" y="362302"/>
            <a:ext cx="1601448" cy="1587151"/>
            <a:chOff x="0" y="0"/>
            <a:chExt cx="2135264" cy="21162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35251" cy="2116201"/>
            </a:xfrm>
            <a:custGeom>
              <a:avLst/>
              <a:gdLst/>
              <a:ahLst/>
              <a:cxnLst/>
              <a:rect r="r" b="b" t="t" l="l"/>
              <a:pathLst>
                <a:path h="2116201" w="2135251">
                  <a:moveTo>
                    <a:pt x="0" y="0"/>
                  </a:moveTo>
                  <a:lnTo>
                    <a:pt x="2135251" y="0"/>
                  </a:lnTo>
                  <a:lnTo>
                    <a:pt x="2135251" y="2116201"/>
                  </a:lnTo>
                  <a:lnTo>
                    <a:pt x="0" y="2116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15"/>
              </a:stretch>
            </a:blipFill>
          </p:spPr>
        </p:sp>
      </p:grpSp>
      <p:grpSp xmlns:p="http://schemas.openxmlformats.org/presentationml/2006/main" xmlns:a="http://schemas.openxmlformats.org/drawingml/2006/main" xmlns:r="http://schemas.openxmlformats.org/officeDocument/2006/relationships">
        <p:nvGrpSpPr>
          <p:cNvPr name="Group 6" id="6"/>
          <p:cNvGrpSpPr/>
          <p:nvPr/>
        </p:nvGrpSpPr>
        <p:grpSpPr>
          <a:xfrm rot="0">
            <a:off x="16049158" y="355225"/>
            <a:ext cx="1732521" cy="1656264"/>
            <a:chOff x="0" y="0"/>
            <a:chExt cx="2310028" cy="22083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0003" cy="2208403"/>
            </a:xfrm>
            <a:custGeom>
              <a:avLst/>
              <a:gdLst/>
              <a:ahLst/>
              <a:cxnLst/>
              <a:rect r="r" b="b" t="t" l="l"/>
              <a:pathLst>
                <a:path h="2208403" w="2310003">
                  <a:moveTo>
                    <a:pt x="0" y="0"/>
                  </a:moveTo>
                  <a:lnTo>
                    <a:pt x="2310003" y="0"/>
                  </a:lnTo>
                  <a:lnTo>
                    <a:pt x="2310003" y="2208403"/>
                  </a:lnTo>
                  <a:lnTo>
                    <a:pt x="0" y="2208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01" b="2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2286000" y="713232"/>
            <a:ext cx="135331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dirty="0">
                <a:solidFill>
                  <a:srgbClr val="000000"/>
                </a:solidFill>
                <a:latin typeface="Calibri"/>
                <a:cs typeface="Calibri"/>
              </a:rPr>
              <a:t>9. Conclusion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914400" y="2286000"/>
            <a:ext cx="10058400" cy="731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1F2A6B"/>
              </a:buClr>
              <a:buFont typeface="Arial"/>
              <a:buChar char="•"/>
            </a:pPr>
            <a:r>
              <a:rPr lang="en-US" sz="2800" b="0" i="0" dirty="0">
                <a:solidFill>
                  <a:srgbClr val="1A1A1A"/>
                </a:solidFill>
                <a:latin typeface="Calibri"/>
                <a:cs typeface="Calibri"/>
              </a:rPr>
              <a:t>Used-car price prediction is a supervised regression problem that machine learning handles well.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1F2A6B"/>
              </a:buClr>
              <a:buFont typeface="Arial"/>
              <a:buChar char="•"/>
            </a:pPr>
            <a:r>
              <a:rPr lang="en-US" sz="2800" b="0" i="0" dirty="0">
                <a:solidFill>
                  <a:srgbClr val="1A1A1A"/>
                </a:solidFill>
                <a:latin typeface="Calibri"/>
                <a:cs typeface="Calibri"/>
              </a:rPr>
              <a:t>In 16 studies from 2023–2026, tree-based ensembles (Random Forest, boosting) most often gave the best accuracy; neural networks were competitive in some.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1F2A6B"/>
              </a:buClr>
              <a:buFont typeface="Arial"/>
              <a:buChar char="•"/>
            </a:pPr>
            <a:r>
              <a:rPr lang="en-US" sz="2800" b="0" i="0" dirty="0">
                <a:solidFill>
                  <a:srgbClr val="1A1A1A"/>
                </a:solidFill>
                <a:latin typeface="Calibri"/>
                <a:cs typeface="Calibri"/>
              </a:rPr>
              <a:t>This project compares Linear Regression, Decision Tree, Random Forest and XGBoost on one dataset with common preprocessing and metrics.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1F2A6B"/>
              </a:buClr>
              <a:buFont typeface="Arial"/>
              <a:buChar char="•"/>
            </a:pPr>
            <a:r>
              <a:rPr lang="en-US" sz="2800" b="0" i="0" dirty="0">
                <a:solidFill>
                  <a:srgbClr val="1A1A1A"/>
                </a:solidFill>
                <a:latin typeface="Calibri"/>
                <a:cs typeface="Calibri"/>
              </a:rPr>
              <a:t>Five modules take the work from data collection to a price-prediction app.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1F2A6B"/>
              </a:buClr>
              <a:buFont typeface="Arial"/>
              <a:buChar char="•"/>
            </a:pPr>
            <a:r>
              <a:rPr lang="en-US" sz="2800" b="0" i="0" dirty="0">
                <a:solidFill>
                  <a:srgbClr val="1A1A1A"/>
                </a:solidFill>
                <a:latin typeface="Calibri"/>
                <a:cs typeface="Calibri"/>
              </a:rPr>
              <a:t>Outcome: a reliable model that gives buyers and sellers a quick, consistent price estimate.</a:t>
            </a:r>
          </a:p>
        </p:txBody>
      </p:sp>
      <p:sp>
        <p:nvSpPr>
          <p:cNvPr id="103" name="Future 103"/>
          <p:cNvSpPr/>
          <p:nvPr/>
        </p:nvSpPr>
        <p:spPr>
          <a:xfrm>
            <a:off x="11521440" y="2286000"/>
            <a:ext cx="5852160" cy="65836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365760" tIns="274320" rIns="274320" bIns="18288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3000" b="1" i="0" dirty="0">
                <a:solidFill>
                  <a:srgbClr val="1F2A6B"/>
                </a:solidFill>
                <a:latin typeface="Calibri"/>
                <a:cs typeface="Calibri"/>
              </a:rPr>
              <a:t>Future enhancements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>
                <a:srgbClr val="1F2A6B"/>
              </a:buClr>
              <a:buFont typeface="Arial"/>
              <a:buChar char="•"/>
            </a:pPr>
            <a:r>
              <a:rPr lang="en-US" sz="2600" b="0" i="0" dirty="0">
                <a:solidFill>
                  <a:srgbClr val="1A1A1A"/>
                </a:solidFill>
                <a:latin typeface="Calibri"/>
                <a:cs typeface="Calibri"/>
              </a:rPr>
              <a:t>Real-time market listings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>
                <a:srgbClr val="1F2A6B"/>
              </a:buClr>
              <a:buFont typeface="Arial"/>
              <a:buChar char="•"/>
            </a:pPr>
            <a:r>
              <a:rPr lang="en-US" sz="2600" b="0" i="0" dirty="0">
                <a:solidFill>
                  <a:srgbClr val="1A1A1A"/>
                </a:solidFill>
                <a:latin typeface="Calibri"/>
                <a:cs typeface="Calibri"/>
              </a:rPr>
              <a:t>Location and condition data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>
                <a:srgbClr val="1F2A6B"/>
              </a:buClr>
              <a:buFont typeface="Arial"/>
              <a:buChar char="•"/>
            </a:pPr>
            <a:r>
              <a:rPr lang="en-US" sz="2600" b="0" i="0" dirty="0">
                <a:solidFill>
                  <a:srgbClr val="1A1A1A"/>
                </a:solidFill>
                <a:latin typeface="Calibri"/>
                <a:cs typeface="Calibri"/>
              </a:rPr>
              <a:t>Macroeconomic indicators such as fuel price and inflation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>
                <a:srgbClr val="1F2A6B"/>
              </a:buClr>
              <a:buFont typeface="Arial"/>
              <a:buChar char="•"/>
            </a:pPr>
            <a:r>
              <a:rPr lang="en-US" sz="2600" b="0" i="0" dirty="0">
                <a:solidFill>
                  <a:srgbClr val="1A1A1A"/>
                </a:solidFill>
                <a:latin typeface="Calibri"/>
                <a:cs typeface="Calibri"/>
              </a:rPr>
              <a:t>SHAP-based explanations of each prediction</a:t>
            </a:r>
          </a:p>
          <a:p>
            <a:pPr algn="l" marL="292608" indent="-292608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  <a:buClr>
                <a:srgbClr val="1F2A6B"/>
              </a:buClr>
              <a:buFont typeface="Arial"/>
              <a:buChar char="•"/>
            </a:pPr>
            <a:r>
              <a:rPr lang="en-US" sz="2600" b="0" i="0" dirty="0">
                <a:solidFill>
                  <a:srgbClr val="1A1A1A"/>
                </a:solidFill>
                <a:latin typeface="Calibri"/>
                <a:cs typeface="Calibri"/>
              </a:rPr>
              <a:t>Web / mobile deployment</a:t>
            </a:r>
          </a:p>
        </p:txBody>
      </p:sp>
      <p:grpSp xmlns:p="http://schemas.openxmlformats.org/presentationml/2006/main" xmlns:a="http://schemas.openxmlformats.org/drawingml/2006/main" xmlns:r="http://schemas.openxmlformats.org/officeDocument/2006/relationships">
        <p:nvGrpSpPr>
          <p:cNvPr name="Group 4" id="4"/>
          <p:cNvGrpSpPr/>
          <p:nvPr/>
        </p:nvGrpSpPr>
        <p:grpSpPr>
          <a:xfrm rot="0">
            <a:off x="300933" y="362302"/>
            <a:ext cx="1601448" cy="1587151"/>
            <a:chOff x="0" y="0"/>
            <a:chExt cx="2135264" cy="21162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35251" cy="2116201"/>
            </a:xfrm>
            <a:custGeom>
              <a:avLst/>
              <a:gdLst/>
              <a:ahLst/>
              <a:cxnLst/>
              <a:rect r="r" b="b" t="t" l="l"/>
              <a:pathLst>
                <a:path h="2116201" w="2135251">
                  <a:moveTo>
                    <a:pt x="0" y="0"/>
                  </a:moveTo>
                  <a:lnTo>
                    <a:pt x="2135251" y="0"/>
                  </a:lnTo>
                  <a:lnTo>
                    <a:pt x="2135251" y="2116201"/>
                  </a:lnTo>
                  <a:lnTo>
                    <a:pt x="0" y="2116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15"/>
              </a:stretch>
            </a:blipFill>
          </p:spPr>
        </p:sp>
      </p:grpSp>
      <p:grpSp xmlns:p="http://schemas.openxmlformats.org/presentationml/2006/main" xmlns:a="http://schemas.openxmlformats.org/drawingml/2006/main" xmlns:r="http://schemas.openxmlformats.org/officeDocument/2006/relationships">
        <p:nvGrpSpPr>
          <p:cNvPr name="Group 6" id="6"/>
          <p:cNvGrpSpPr/>
          <p:nvPr/>
        </p:nvGrpSpPr>
        <p:grpSpPr>
          <a:xfrm rot="0">
            <a:off x="16049158" y="355225"/>
            <a:ext cx="1732521" cy="1656264"/>
            <a:chOff x="0" y="0"/>
            <a:chExt cx="2310028" cy="22083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0003" cy="2208403"/>
            </a:xfrm>
            <a:custGeom>
              <a:avLst/>
              <a:gdLst/>
              <a:ahLst/>
              <a:cxnLst/>
              <a:rect r="r" b="b" t="t" l="l"/>
              <a:pathLst>
                <a:path h="2208403" w="2310003">
                  <a:moveTo>
                    <a:pt x="0" y="0"/>
                  </a:moveTo>
                  <a:lnTo>
                    <a:pt x="2310003" y="0"/>
                  </a:lnTo>
                  <a:lnTo>
                    <a:pt x="2310003" y="2208403"/>
                  </a:lnTo>
                  <a:lnTo>
                    <a:pt x="0" y="2208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01" b="2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2286000" y="713232"/>
            <a:ext cx="135331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dirty="0">
                <a:solidFill>
                  <a:srgbClr val="000000"/>
                </a:solidFill>
                <a:latin typeface="Calibri"/>
                <a:cs typeface="Calibri"/>
              </a:rPr>
              <a:t>References – Literature Survey Papers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914400" y="2194560"/>
            <a:ext cx="8046720" cy="7498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000" b="1" i="0" dirty="0">
                <a:solidFill>
                  <a:srgbClr val="1A1A1A"/>
                </a:solidFill>
                <a:latin typeface="Calibri"/>
                <a:cs typeface="Calibri"/>
              </a:rPr>
              <a:t>[1] </a:t>
            </a:r>
            <a:r>
              <a:rPr lang="en-US" sz="2000" b="0" i="0" dirty="0">
                <a:solidFill>
                  <a:srgbClr val="1A1A1A"/>
                </a:solidFill>
                <a:latin typeface="Calibri"/>
                <a:cs typeface="Calibri"/>
              </a:rPr>
              <a:t>A. Zhu (2023). Pre-Owned Car Price Prediction Using Machine Learning Techniques. DAML 2023.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000" b="1" i="0" dirty="0">
                <a:solidFill>
                  <a:srgbClr val="1A1A1A"/>
                </a:solidFill>
                <a:latin typeface="Calibri"/>
                <a:cs typeface="Calibri"/>
              </a:rPr>
              <a:t>[2] </a:t>
            </a:r>
            <a:r>
              <a:rPr lang="en-US" sz="2000" b="0" i="0" dirty="0">
                <a:solidFill>
                  <a:srgbClr val="1A1A1A"/>
                </a:solidFill>
                <a:latin typeface="Calibri"/>
                <a:cs typeface="Calibri"/>
              </a:rPr>
              <a:t>V. Pavlichko &amp; N. Melnykova (2023). Car Price Prediction Using ML Methods. Herald of Khmelnytskyi Natl. Univ.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000" b="1" i="0" dirty="0">
                <a:solidFill>
                  <a:srgbClr val="1A1A1A"/>
                </a:solidFill>
                <a:latin typeface="Calibri"/>
                <a:cs typeface="Calibri"/>
              </a:rPr>
              <a:t>[3] </a:t>
            </a:r>
            <a:r>
              <a:rPr lang="en-US" sz="2000" b="0" i="0" dirty="0">
                <a:solidFill>
                  <a:srgbClr val="1A1A1A"/>
                </a:solidFill>
                <a:latin typeface="Calibri"/>
                <a:cs typeface="Calibri"/>
              </a:rPr>
              <a:t>D. A. Budiono et al. (2024). Used Car Price Prediction Model: A Machine Learning Approach. IJCIS.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000" b="1" i="0" dirty="0">
                <a:solidFill>
                  <a:srgbClr val="1A1A1A"/>
                </a:solidFill>
                <a:latin typeface="Calibri"/>
                <a:cs typeface="Calibri"/>
              </a:rPr>
              <a:t>[4] </a:t>
            </a:r>
            <a:r>
              <a:rPr lang="en-US" sz="2000" b="0" i="0" dirty="0">
                <a:solidFill>
                  <a:srgbClr val="1A1A1A"/>
                </a:solidFill>
                <a:latin typeface="Calibri"/>
                <a:cs typeface="Calibri"/>
              </a:rPr>
              <a:t>M. Sanke et al. (2024). Machine Learning Powered Chatbot for Prediction of Used Car Price. IJCA.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000" b="1" i="0" dirty="0">
                <a:solidFill>
                  <a:srgbClr val="1A1A1A"/>
                </a:solidFill>
                <a:latin typeface="Calibri"/>
                <a:cs typeface="Calibri"/>
              </a:rPr>
              <a:t>[5] </a:t>
            </a:r>
            <a:r>
              <a:rPr lang="en-US" sz="2000" b="0" i="0" dirty="0">
                <a:solidFill>
                  <a:srgbClr val="1A1A1A"/>
                </a:solidFill>
                <a:latin typeface="Calibri"/>
                <a:cs typeface="Calibri"/>
              </a:rPr>
              <a:t>F. A. Dael et al. (2024). Machine Learning Approaches to Forecasting Car Prices in the Secondary Market. IEEE CICN 2024.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000" b="1" i="0" dirty="0">
                <a:solidFill>
                  <a:srgbClr val="1A1A1A"/>
                </a:solidFill>
                <a:latin typeface="Calibri"/>
                <a:cs typeface="Calibri"/>
              </a:rPr>
              <a:t>[6] </a:t>
            </a:r>
            <a:r>
              <a:rPr lang="en-US" sz="2000" b="0" i="0" dirty="0">
                <a:solidFill>
                  <a:srgbClr val="1A1A1A"/>
                </a:solidFill>
                <a:latin typeface="Calibri"/>
                <a:cs typeface="Calibri"/>
              </a:rPr>
              <a:t>J. Lin (2024). Predicting Used Car Price Based on Machine Learning. ECAI 2024.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000" b="1" i="0" dirty="0">
                <a:solidFill>
                  <a:srgbClr val="1A1A1A"/>
                </a:solidFill>
                <a:latin typeface="Calibri"/>
                <a:cs typeface="Calibri"/>
              </a:rPr>
              <a:t>[7] </a:t>
            </a:r>
            <a:r>
              <a:rPr lang="en-US" sz="2000" b="0" i="0" dirty="0">
                <a:solidFill>
                  <a:srgbClr val="1A1A1A"/>
                </a:solidFill>
                <a:latin typeface="Calibri"/>
                <a:cs typeface="Calibri"/>
              </a:rPr>
              <a:t>R. Chen (2024). Car Price Prediction Using Machine Learning. ECAI 2024.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000" b="1" i="0" dirty="0">
                <a:solidFill>
                  <a:srgbClr val="1A1A1A"/>
                </a:solidFill>
                <a:latin typeface="Calibri"/>
                <a:cs typeface="Calibri"/>
              </a:rPr>
              <a:t>[8] </a:t>
            </a:r>
            <a:r>
              <a:rPr lang="en-US" sz="2000" b="0" i="0" dirty="0">
                <a:solidFill>
                  <a:srgbClr val="1A1A1A"/>
                </a:solidFill>
                <a:latin typeface="Calibri"/>
                <a:cs typeface="Calibri"/>
              </a:rPr>
              <a:t>E. K. Khotimah et al. (2025). Forecasting Used Car Prices Using Machine Learning. ITJRD.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9326880" y="2194560"/>
            <a:ext cx="8046720" cy="7498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000" b="1" i="0" dirty="0">
                <a:solidFill>
                  <a:srgbClr val="1A1A1A"/>
                </a:solidFill>
                <a:latin typeface="Calibri"/>
                <a:cs typeface="Calibri"/>
              </a:rPr>
              <a:t>[9] </a:t>
            </a:r>
            <a:r>
              <a:rPr lang="en-US" sz="2000" b="0" i="0" dirty="0">
                <a:solidFill>
                  <a:srgbClr val="1A1A1A"/>
                </a:solidFill>
                <a:latin typeface="Calibri"/>
                <a:cs typeface="Calibri"/>
              </a:rPr>
              <a:t>A. Kasar et al. (2025). Integrating Macroeconomic Indicators into ML Models for Used Car Price Prediction. European Economic Letters.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000" b="1" i="0" dirty="0">
                <a:solidFill>
                  <a:srgbClr val="1A1A1A"/>
                </a:solidFill>
                <a:latin typeface="Calibri"/>
                <a:cs typeface="Calibri"/>
              </a:rPr>
              <a:t>[10] </a:t>
            </a:r>
            <a:r>
              <a:rPr lang="en-US" sz="2000" b="0" i="0" dirty="0">
                <a:solidFill>
                  <a:srgbClr val="1A1A1A"/>
                </a:solidFill>
                <a:latin typeface="Calibri"/>
                <a:cs typeface="Calibri"/>
              </a:rPr>
              <a:t>I. Fayyaz et al. (2025). Advanced Feature Engineering and ML Techniques for Price Prediction of Heterogeneous Pre-Own Cars. Vehicles 7(3).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000" b="1" i="0" dirty="0">
                <a:solidFill>
                  <a:srgbClr val="1A1A1A"/>
                </a:solidFill>
                <a:latin typeface="Calibri"/>
                <a:cs typeface="Calibri"/>
              </a:rPr>
              <a:t>[11] </a:t>
            </a:r>
            <a:r>
              <a:rPr lang="en-US" sz="2000" b="0" i="0" dirty="0">
                <a:solidFill>
                  <a:srgbClr val="1A1A1A"/>
                </a:solidFill>
                <a:latin typeface="Calibri"/>
                <a:cs typeface="Calibri"/>
              </a:rPr>
              <a:t>T. Li (2025). Used Car Price Prediction and Feature Importance Analysis Using XGBoost and SHAP. HBEM 65.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000" b="1" i="0" dirty="0">
                <a:solidFill>
                  <a:srgbClr val="1A1A1A"/>
                </a:solidFill>
                <a:latin typeface="Calibri"/>
                <a:cs typeface="Calibri"/>
              </a:rPr>
              <a:t>[12] </a:t>
            </a:r>
            <a:r>
              <a:rPr lang="en-US" sz="2000" b="0" i="0" dirty="0">
                <a:solidFill>
                  <a:srgbClr val="1A1A1A"/>
                </a:solidFill>
                <a:latin typeface="Calibri"/>
                <a:cs typeface="Calibri"/>
              </a:rPr>
              <a:t>V. P. Chaubey et al. (2025). Enhancing Predictive Accuracy in Used Car Pricing Models. CCIS 2073.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000" b="1" i="0" dirty="0">
                <a:solidFill>
                  <a:srgbClr val="1A1A1A"/>
                </a:solidFill>
                <a:latin typeface="Calibri"/>
                <a:cs typeface="Calibri"/>
              </a:rPr>
              <a:t>[13] </a:t>
            </a:r>
            <a:r>
              <a:rPr lang="en-US" sz="2000" b="0" i="0" dirty="0">
                <a:solidFill>
                  <a:srgbClr val="1A1A1A"/>
                </a:solidFill>
                <a:latin typeface="Calibri"/>
                <a:cs typeface="Calibri"/>
              </a:rPr>
              <a:t>G. R. Ramadhan et al. (2025). Used Car Price Prediction Using K-Means Clustering and Four Regression Algorithms. ROUTERS.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000" b="1" i="0" dirty="0">
                <a:solidFill>
                  <a:srgbClr val="1A1A1A"/>
                </a:solidFill>
                <a:latin typeface="Calibri"/>
                <a:cs typeface="Calibri"/>
              </a:rPr>
              <a:t>[14] </a:t>
            </a:r>
            <a:r>
              <a:rPr lang="en-US" sz="2000" b="0" i="0" dirty="0">
                <a:solidFill>
                  <a:srgbClr val="1A1A1A"/>
                </a:solidFill>
                <a:latin typeface="Calibri"/>
                <a:cs typeface="Calibri"/>
              </a:rPr>
              <a:t>M. S. Ghaisani &amp; A. Baita (2025). Implementation of the KNN Regressor Method to Predict Toyota Used Car Prices. JAIC.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000" b="1" i="0" dirty="0">
                <a:solidFill>
                  <a:srgbClr val="1A1A1A"/>
                </a:solidFill>
                <a:latin typeface="Calibri"/>
                <a:cs typeface="Calibri"/>
              </a:rPr>
              <a:t>[15] </a:t>
            </a:r>
            <a:r>
              <a:rPr lang="en-US" sz="2000" b="0" i="0" dirty="0">
                <a:solidFill>
                  <a:srgbClr val="1A1A1A"/>
                </a:solidFill>
                <a:latin typeface="Calibri"/>
                <a:cs typeface="Calibri"/>
              </a:rPr>
              <a:t>A. Jamalamadaka (2025). Practical Recommendations for ML-Based Tabular Regression Concerning Car Price Prediction. NHSJS.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000" b="1" i="0" dirty="0">
                <a:solidFill>
                  <a:srgbClr val="1A1A1A"/>
                </a:solidFill>
                <a:latin typeface="Calibri"/>
                <a:cs typeface="Calibri"/>
              </a:rPr>
              <a:t>[16] </a:t>
            </a:r>
            <a:r>
              <a:rPr lang="en-US" sz="2000" b="0" i="0" dirty="0">
                <a:solidFill>
                  <a:srgbClr val="1A1A1A"/>
                </a:solidFill>
                <a:latin typeface="Calibri"/>
                <a:cs typeface="Calibri"/>
              </a:rPr>
              <a:t>S. Shakti Dheerays et al. (2026). AI-Powered Wheels: ML Approaches for Predicting Used Car Prices. LNNS 1374.</a:t>
            </a:r>
          </a:p>
        </p:txBody>
      </p:sp>
      <p:grpSp xmlns:p="http://schemas.openxmlformats.org/presentationml/2006/main" xmlns:a="http://schemas.openxmlformats.org/drawingml/2006/main" xmlns:r="http://schemas.openxmlformats.org/officeDocument/2006/relationships">
        <p:nvGrpSpPr>
          <p:cNvPr name="Group 4" id="4"/>
          <p:cNvGrpSpPr/>
          <p:nvPr/>
        </p:nvGrpSpPr>
        <p:grpSpPr>
          <a:xfrm rot="0">
            <a:off x="300933" y="362302"/>
            <a:ext cx="1601448" cy="1587151"/>
            <a:chOff x="0" y="0"/>
            <a:chExt cx="2135264" cy="21162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35251" cy="2116201"/>
            </a:xfrm>
            <a:custGeom>
              <a:avLst/>
              <a:gdLst/>
              <a:ahLst/>
              <a:cxnLst/>
              <a:rect r="r" b="b" t="t" l="l"/>
              <a:pathLst>
                <a:path h="2116201" w="2135251">
                  <a:moveTo>
                    <a:pt x="0" y="0"/>
                  </a:moveTo>
                  <a:lnTo>
                    <a:pt x="2135251" y="0"/>
                  </a:lnTo>
                  <a:lnTo>
                    <a:pt x="2135251" y="2116201"/>
                  </a:lnTo>
                  <a:lnTo>
                    <a:pt x="0" y="2116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15"/>
              </a:stretch>
            </a:blipFill>
          </p:spPr>
        </p:sp>
      </p:grpSp>
      <p:grpSp xmlns:p="http://schemas.openxmlformats.org/presentationml/2006/main" xmlns:a="http://schemas.openxmlformats.org/drawingml/2006/main" xmlns:r="http://schemas.openxmlformats.org/officeDocument/2006/relationships">
        <p:nvGrpSpPr>
          <p:cNvPr name="Group 6" id="6"/>
          <p:cNvGrpSpPr/>
          <p:nvPr/>
        </p:nvGrpSpPr>
        <p:grpSpPr>
          <a:xfrm rot="0">
            <a:off x="16049158" y="355225"/>
            <a:ext cx="1732521" cy="1656264"/>
            <a:chOff x="0" y="0"/>
            <a:chExt cx="2310028" cy="22083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0003" cy="2208403"/>
            </a:xfrm>
            <a:custGeom>
              <a:avLst/>
              <a:gdLst/>
              <a:ahLst/>
              <a:cxnLst/>
              <a:rect r="r" b="b" t="t" l="l"/>
              <a:pathLst>
                <a:path h="2208403" w="2310003">
                  <a:moveTo>
                    <a:pt x="0" y="0"/>
                  </a:moveTo>
                  <a:lnTo>
                    <a:pt x="2310003" y="0"/>
                  </a:lnTo>
                  <a:lnTo>
                    <a:pt x="2310003" y="2208403"/>
                  </a:lnTo>
                  <a:lnTo>
                    <a:pt x="0" y="2208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01" b="2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 101"/>
          <p:cNvSpPr txBox="1"/>
          <p:nvPr/>
        </p:nvSpPr>
        <p:spPr>
          <a:xfrm>
            <a:off x="2286000" y="713232"/>
            <a:ext cx="135331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dirty="0">
                <a:solidFill>
                  <a:srgbClr val="000000"/>
                </a:solidFill>
                <a:latin typeface="Calibri"/>
                <a:cs typeface="Calibri"/>
              </a:rPr>
              <a:t>Table of Contents</a:t>
            </a:r>
          </a:p>
        </p:txBody>
      </p:sp>
      <p:sp>
        <p:nvSpPr>
          <p:cNvPr id="201" name="Row 201"/>
          <p:cNvSpPr/>
          <p:nvPr/>
        </p:nvSpPr>
        <p:spPr>
          <a:xfrm>
            <a:off x="914400" y="2194560"/>
            <a:ext cx="8046720" cy="1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0" tIns="36576" rIns="0" bIns="36576" anchor="t" rtlCol="0">
            <a:noAutofit/>
          </a:bodyPr>
          <a:lstStyle/>
          <a:p>
            <a:endParaRPr lang="en-US"/>
          </a:p>
        </p:txBody>
      </p:sp>
      <p:sp>
        <p:nvSpPr>
          <p:cNvPr id="202" name="Num 202"/>
          <p:cNvSpPr/>
          <p:nvPr/>
        </p:nvSpPr>
        <p:spPr>
          <a:xfrm>
            <a:off x="1188720" y="2408080"/>
            <a:ext cx="822960" cy="822960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36576" rIns="0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03" name="TextBox 203"/>
          <p:cNvSpPr txBox="1"/>
          <p:nvPr/>
        </p:nvSpPr>
        <p:spPr>
          <a:xfrm>
            <a:off x="2286000" y="2194560"/>
            <a:ext cx="64008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1F2A6B"/>
                </a:solidFill>
                <a:latin typeface="Calibri"/>
                <a:cs typeface="Calibri"/>
              </a:rPr>
              <a:t>Objective</a:t>
            </a:r>
          </a:p>
        </p:txBody>
      </p:sp>
      <p:sp>
        <p:nvSpPr>
          <p:cNvPr id="204" name="Row 204"/>
          <p:cNvSpPr/>
          <p:nvPr/>
        </p:nvSpPr>
        <p:spPr>
          <a:xfrm>
            <a:off x="914400" y="3744560"/>
            <a:ext cx="8046720" cy="1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0" tIns="36576" rIns="0" bIns="36576" anchor="t" rtlCol="0">
            <a:noAutofit/>
          </a:bodyPr>
          <a:lstStyle/>
          <a:p>
            <a:endParaRPr lang="en-US"/>
          </a:p>
        </p:txBody>
      </p:sp>
      <p:sp>
        <p:nvSpPr>
          <p:cNvPr id="205" name="Num 205"/>
          <p:cNvSpPr/>
          <p:nvPr/>
        </p:nvSpPr>
        <p:spPr>
          <a:xfrm>
            <a:off x="1188720" y="3958080"/>
            <a:ext cx="822960" cy="822960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36576" rIns="0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06" name="TextBox 206"/>
          <p:cNvSpPr txBox="1"/>
          <p:nvPr/>
        </p:nvSpPr>
        <p:spPr>
          <a:xfrm>
            <a:off x="2286000" y="3744560"/>
            <a:ext cx="64008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1F2A6B"/>
                </a:solidFill>
                <a:latin typeface="Calibri"/>
                <a:cs typeface="Calibri"/>
              </a:rPr>
              <a:t>Problem Identification</a:t>
            </a:r>
          </a:p>
        </p:txBody>
      </p:sp>
      <p:sp>
        <p:nvSpPr>
          <p:cNvPr id="207" name="Row 207"/>
          <p:cNvSpPr/>
          <p:nvPr/>
        </p:nvSpPr>
        <p:spPr>
          <a:xfrm>
            <a:off x="914400" y="5294560"/>
            <a:ext cx="8046720" cy="1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0" tIns="36576" rIns="0" bIns="36576" anchor="t" rtlCol="0">
            <a:noAutofit/>
          </a:bodyPr>
          <a:lstStyle/>
          <a:p>
            <a:endParaRPr lang="en-US"/>
          </a:p>
        </p:txBody>
      </p:sp>
      <p:sp>
        <p:nvSpPr>
          <p:cNvPr id="208" name="Num 208"/>
          <p:cNvSpPr/>
          <p:nvPr/>
        </p:nvSpPr>
        <p:spPr>
          <a:xfrm>
            <a:off x="1188720" y="5508080"/>
            <a:ext cx="822960" cy="822960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36576" rIns="0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09" name="TextBox 209"/>
          <p:cNvSpPr txBox="1"/>
          <p:nvPr/>
        </p:nvSpPr>
        <p:spPr>
          <a:xfrm>
            <a:off x="2286000" y="5294560"/>
            <a:ext cx="64008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1F2A6B"/>
                </a:solidFill>
                <a:latin typeface="Calibri"/>
                <a:cs typeface="Calibri"/>
              </a:rPr>
              <a:t>Flow Diagram</a:t>
            </a:r>
          </a:p>
        </p:txBody>
      </p:sp>
      <p:sp>
        <p:nvSpPr>
          <p:cNvPr id="210" name="Row 210"/>
          <p:cNvSpPr/>
          <p:nvPr/>
        </p:nvSpPr>
        <p:spPr>
          <a:xfrm>
            <a:off x="914400" y="6844560"/>
            <a:ext cx="8046720" cy="1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0" tIns="36576" rIns="0" bIns="36576" anchor="t" rtlCol="0">
            <a:noAutofit/>
          </a:bodyPr>
          <a:lstStyle/>
          <a:p>
            <a:endParaRPr lang="en-US"/>
          </a:p>
        </p:txBody>
      </p:sp>
      <p:sp>
        <p:nvSpPr>
          <p:cNvPr id="211" name="Num 211"/>
          <p:cNvSpPr/>
          <p:nvPr/>
        </p:nvSpPr>
        <p:spPr>
          <a:xfrm>
            <a:off x="1188720" y="7058080"/>
            <a:ext cx="822960" cy="822960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36576" rIns="0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12" name="TextBox 212"/>
          <p:cNvSpPr txBox="1"/>
          <p:nvPr/>
        </p:nvSpPr>
        <p:spPr>
          <a:xfrm>
            <a:off x="2286000" y="6844560"/>
            <a:ext cx="64008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1F2A6B"/>
                </a:solidFill>
                <a:latin typeface="Calibri"/>
                <a:cs typeface="Calibri"/>
              </a:rPr>
              <a:t>Literature Survey</a:t>
            </a:r>
          </a:p>
        </p:txBody>
      </p:sp>
      <p:sp>
        <p:nvSpPr>
          <p:cNvPr id="213" name="Row 213"/>
          <p:cNvSpPr/>
          <p:nvPr/>
        </p:nvSpPr>
        <p:spPr>
          <a:xfrm>
            <a:off x="914400" y="8394560"/>
            <a:ext cx="8046720" cy="1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0" tIns="36576" rIns="0" bIns="36576" anchor="t" rtlCol="0">
            <a:noAutofit/>
          </a:bodyPr>
          <a:lstStyle/>
          <a:p>
            <a:endParaRPr lang="en-US"/>
          </a:p>
        </p:txBody>
      </p:sp>
      <p:sp>
        <p:nvSpPr>
          <p:cNvPr id="214" name="Num 214"/>
          <p:cNvSpPr/>
          <p:nvPr/>
        </p:nvSpPr>
        <p:spPr>
          <a:xfrm>
            <a:off x="1188720" y="8608080"/>
            <a:ext cx="822960" cy="822960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36576" rIns="0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15" name="TextBox 215"/>
          <p:cNvSpPr txBox="1"/>
          <p:nvPr/>
        </p:nvSpPr>
        <p:spPr>
          <a:xfrm>
            <a:off x="2286000" y="8394560"/>
            <a:ext cx="64008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1F2A6B"/>
                </a:solidFill>
                <a:latin typeface="Calibri"/>
                <a:cs typeface="Calibri"/>
              </a:rPr>
              <a:t>Research Methodology</a:t>
            </a:r>
          </a:p>
        </p:txBody>
      </p:sp>
      <p:sp>
        <p:nvSpPr>
          <p:cNvPr id="216" name="Row 216"/>
          <p:cNvSpPr/>
          <p:nvPr/>
        </p:nvSpPr>
        <p:spPr>
          <a:xfrm>
            <a:off x="9326880" y="2194560"/>
            <a:ext cx="8046720" cy="1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0" tIns="36576" rIns="0" bIns="36576" anchor="t" rtlCol="0">
            <a:noAutofit/>
          </a:bodyPr>
          <a:lstStyle/>
          <a:p>
            <a:endParaRPr lang="en-US"/>
          </a:p>
        </p:txBody>
      </p:sp>
      <p:sp>
        <p:nvSpPr>
          <p:cNvPr id="217" name="Num 217"/>
          <p:cNvSpPr/>
          <p:nvPr/>
        </p:nvSpPr>
        <p:spPr>
          <a:xfrm>
            <a:off x="9601200" y="2408080"/>
            <a:ext cx="822960" cy="822960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36576" rIns="0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218" name="TextBox 218"/>
          <p:cNvSpPr txBox="1"/>
          <p:nvPr/>
        </p:nvSpPr>
        <p:spPr>
          <a:xfrm>
            <a:off x="10698480" y="2194560"/>
            <a:ext cx="64008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1F2A6B"/>
                </a:solidFill>
                <a:latin typeface="Calibri"/>
                <a:cs typeface="Calibri"/>
              </a:rPr>
              <a:t>Comparison of Algorithms</a:t>
            </a:r>
          </a:p>
        </p:txBody>
      </p:sp>
      <p:sp>
        <p:nvSpPr>
          <p:cNvPr id="219" name="Row 219"/>
          <p:cNvSpPr/>
          <p:nvPr/>
        </p:nvSpPr>
        <p:spPr>
          <a:xfrm>
            <a:off x="9326880" y="3744560"/>
            <a:ext cx="8046720" cy="1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0" tIns="36576" rIns="0" bIns="36576" anchor="t" rtlCol="0">
            <a:noAutofit/>
          </a:bodyPr>
          <a:lstStyle/>
          <a:p>
            <a:endParaRPr lang="en-US"/>
          </a:p>
        </p:txBody>
      </p:sp>
      <p:sp>
        <p:nvSpPr>
          <p:cNvPr id="220" name="Num 220"/>
          <p:cNvSpPr/>
          <p:nvPr/>
        </p:nvSpPr>
        <p:spPr>
          <a:xfrm>
            <a:off x="9601200" y="3958080"/>
            <a:ext cx="822960" cy="822960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36576" rIns="0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221" name="TextBox 221"/>
          <p:cNvSpPr txBox="1"/>
          <p:nvPr/>
        </p:nvSpPr>
        <p:spPr>
          <a:xfrm>
            <a:off x="10698480" y="3744560"/>
            <a:ext cx="64008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1F2A6B"/>
                </a:solidFill>
                <a:latin typeface="Calibri"/>
                <a:cs typeface="Calibri"/>
              </a:rPr>
              <a:t>Implementation Idea</a:t>
            </a:r>
          </a:p>
        </p:txBody>
      </p:sp>
      <p:sp>
        <p:nvSpPr>
          <p:cNvPr id="222" name="Row 222"/>
          <p:cNvSpPr/>
          <p:nvPr/>
        </p:nvSpPr>
        <p:spPr>
          <a:xfrm>
            <a:off x="9326880" y="5294560"/>
            <a:ext cx="8046720" cy="1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0" tIns="36576" rIns="0" bIns="36576" anchor="t" rtlCol="0">
            <a:noAutofit/>
          </a:bodyPr>
          <a:lstStyle/>
          <a:p>
            <a:endParaRPr lang="en-US"/>
          </a:p>
        </p:txBody>
      </p:sp>
      <p:sp>
        <p:nvSpPr>
          <p:cNvPr id="223" name="Num 223"/>
          <p:cNvSpPr/>
          <p:nvPr/>
        </p:nvSpPr>
        <p:spPr>
          <a:xfrm>
            <a:off x="9601200" y="5508080"/>
            <a:ext cx="822960" cy="822960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36576" rIns="0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224" name="TextBox 224"/>
          <p:cNvSpPr txBox="1"/>
          <p:nvPr/>
        </p:nvSpPr>
        <p:spPr>
          <a:xfrm>
            <a:off x="10698480" y="5294560"/>
            <a:ext cx="64008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1F2A6B"/>
                </a:solidFill>
                <a:latin typeface="Calibri"/>
                <a:cs typeface="Calibri"/>
              </a:rPr>
              <a:t>Modules</a:t>
            </a:r>
          </a:p>
        </p:txBody>
      </p:sp>
      <p:sp>
        <p:nvSpPr>
          <p:cNvPr id="225" name="Row 225"/>
          <p:cNvSpPr/>
          <p:nvPr/>
        </p:nvSpPr>
        <p:spPr>
          <a:xfrm>
            <a:off x="9326880" y="6844560"/>
            <a:ext cx="8046720" cy="125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5875">
            <a:solidFill>
              <a:srgbClr val="D0D0D0"/>
            </a:solidFill>
          </a:ln>
        </p:spPr>
        <p:txBody>
          <a:bodyPr wrap="square" lIns="0" tIns="36576" rIns="0" bIns="36576" anchor="t" rtlCol="0">
            <a:noAutofit/>
          </a:bodyPr>
          <a:lstStyle/>
          <a:p>
            <a:endParaRPr lang="en-US"/>
          </a:p>
        </p:txBody>
      </p:sp>
      <p:sp>
        <p:nvSpPr>
          <p:cNvPr id="226" name="Num 226"/>
          <p:cNvSpPr/>
          <p:nvPr/>
        </p:nvSpPr>
        <p:spPr>
          <a:xfrm>
            <a:off x="9601200" y="7058080"/>
            <a:ext cx="822960" cy="822960"/>
          </a:xfrm>
          <a:prstGeom prst="ellipse">
            <a:avLst/>
          </a:prstGeom>
          <a:solidFill>
            <a:srgbClr val="1F2A6B"/>
          </a:solidFill>
          <a:ln>
            <a:noFill/>
          </a:ln>
        </p:spPr>
        <p:txBody>
          <a:bodyPr wrap="square" lIns="0" tIns="36576" rIns="0" bIns="36576" anchor="ctr"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</a:p>
        </p:txBody>
      </p:sp>
      <p:sp>
        <p:nvSpPr>
          <p:cNvPr id="227" name="TextBox 227"/>
          <p:cNvSpPr txBox="1"/>
          <p:nvPr/>
        </p:nvSpPr>
        <p:spPr>
          <a:xfrm>
            <a:off x="10698480" y="6844560"/>
            <a:ext cx="6400800" cy="1250000"/>
          </a:xfrm>
          <a:prstGeom prst="rect">
            <a:avLst/>
          </a:prstGeom>
          <a:noFill/>
          <a:ln>
            <a:noFill/>
          </a:ln>
        </p:spPr>
        <p:txBody>
          <a:bodyPr wrap="square" lIns="0" tIns="36576" rIns="0" bIns="36576" anchor="ctr" rtlCol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dirty="0">
                <a:solidFill>
                  <a:srgbClr val="1F2A6B"/>
                </a:solidFill>
                <a:latin typeface="Calibri"/>
                <a:cs typeface="Calibri"/>
              </a:rPr>
              <a:t>Conclusion</a:t>
            </a:r>
          </a:p>
        </p:txBody>
      </p:sp>
      <p:grpSp xmlns:p="http://schemas.openxmlformats.org/presentationml/2006/main" xmlns:a="http://schemas.openxmlformats.org/drawingml/2006/main" xmlns:r="http://schemas.openxmlformats.org/officeDocument/2006/relationships">
        <p:nvGrpSpPr>
          <p:cNvPr name="Group 4" id="4"/>
          <p:cNvGrpSpPr/>
          <p:nvPr/>
        </p:nvGrpSpPr>
        <p:grpSpPr>
          <a:xfrm rot="0">
            <a:off x="300933" y="362302"/>
            <a:ext cx="1601448" cy="1587151"/>
            <a:chOff x="0" y="0"/>
            <a:chExt cx="2135264" cy="21162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35251" cy="2116201"/>
            </a:xfrm>
            <a:custGeom>
              <a:avLst/>
              <a:gdLst/>
              <a:ahLst/>
              <a:cxnLst/>
              <a:rect r="r" b="b" t="t" l="l"/>
              <a:pathLst>
                <a:path h="2116201" w="2135251">
                  <a:moveTo>
                    <a:pt x="0" y="0"/>
                  </a:moveTo>
                  <a:lnTo>
                    <a:pt x="2135251" y="0"/>
                  </a:lnTo>
                  <a:lnTo>
                    <a:pt x="2135251" y="2116201"/>
                  </a:lnTo>
                  <a:lnTo>
                    <a:pt x="0" y="21162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15"/>
              </a:stretch>
            </a:blipFill>
          </p:spPr>
        </p:sp>
      </p:grpSp>
      <p:grpSp xmlns:p="http://schemas.openxmlformats.org/presentationml/2006/main" xmlns:a="http://schemas.openxmlformats.org/drawingml/2006/main" xmlns:r="http://schemas.openxmlformats.org/officeDocument/2006/relationships">
        <p:nvGrpSpPr>
          <p:cNvPr name="Group 6" id="6"/>
          <p:cNvGrpSpPr/>
          <p:nvPr/>
        </p:nvGrpSpPr>
        <p:grpSpPr>
          <a:xfrm rot="0">
            <a:off x="16049158" y="355225"/>
            <a:ext cx="1732521" cy="1656264"/>
            <a:chOff x="0" y="0"/>
            <a:chExt cx="2310028" cy="22083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10003" cy="2208403"/>
            </a:xfrm>
            <a:custGeom>
              <a:avLst/>
              <a:gdLst/>
              <a:ahLst/>
              <a:cxnLst/>
              <a:rect r="r" b="b" t="t" l="l"/>
              <a:pathLst>
                <a:path h="2208403" w="2310003">
                  <a:moveTo>
                    <a:pt x="0" y="0"/>
                  </a:moveTo>
                  <a:lnTo>
                    <a:pt x="2310003" y="0"/>
                  </a:lnTo>
                  <a:lnTo>
                    <a:pt x="2310003" y="2208403"/>
                  </a:lnTo>
                  <a:lnTo>
                    <a:pt x="0" y="22084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401" b="2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DAHSj45O0T4</dc:identifier>
  <dcterms:modified xsi:type="dcterms:W3CDTF">2011-08-01T06:04:30Z</dcterms:modified>
  <cp:revision>1</cp:revision>
  <dc:title>PRESENTED BY</dc:title>
</cp:coreProperties>
</file>